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59" r:id="rId1"/>
  </p:sldMasterIdLst>
  <p:notesMasterIdLst>
    <p:notesMasterId r:id="rId32"/>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84" r:id="rId14"/>
    <p:sldId id="285" r:id="rId15"/>
    <p:sldId id="268" r:id="rId16"/>
    <p:sldId id="269" r:id="rId17"/>
    <p:sldId id="270" r:id="rId18"/>
    <p:sldId id="271" r:id="rId19"/>
    <p:sldId id="272" r:id="rId20"/>
    <p:sldId id="273" r:id="rId21"/>
    <p:sldId id="274" r:id="rId22"/>
    <p:sldId id="275" r:id="rId23"/>
    <p:sldId id="276" r:id="rId24"/>
    <p:sldId id="277" r:id="rId25"/>
    <p:sldId id="278" r:id="rId26"/>
    <p:sldId id="279" r:id="rId27"/>
    <p:sldId id="280" r:id="rId28"/>
    <p:sldId id="281" r:id="rId29"/>
    <p:sldId id="282" r:id="rId30"/>
    <p:sldId id="283" r:id="rId31"/>
  </p:sldIdLst>
  <p:sldSz cx="9144000" cy="5143500" type="screen16x9"/>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63" d="100"/>
          <a:sy n="63" d="100"/>
        </p:scale>
        <p:origin x="77" y="859"/>
      </p:cViewPr>
      <p:guideLst>
        <p:guide orient="horz" pos="162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heme" Target="theme/theme1.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
        <p:cNvGrpSpPr/>
        <p:nvPr/>
      </p:nvGrpSpPr>
      <p:grpSpPr>
        <a:xfrm>
          <a:off x="0" y="0"/>
          <a:ext cx="0" cy="0"/>
          <a:chOff x="0" y="0"/>
          <a:chExt cx="0" cy="0"/>
        </a:xfrm>
      </p:grpSpPr>
      <p:sp>
        <p:nvSpPr>
          <p:cNvPr id="51" name="Google Shape;51;g3a271dd3a52_0_605: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2" name="Google Shape;52;g3a271dd3a52_0_60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
        <p:cNvGrpSpPr/>
        <p:nvPr/>
      </p:nvGrpSpPr>
      <p:grpSpPr>
        <a:xfrm>
          <a:off x="0" y="0"/>
          <a:ext cx="0" cy="0"/>
          <a:chOff x="0" y="0"/>
          <a:chExt cx="0" cy="0"/>
        </a:xfrm>
      </p:grpSpPr>
      <p:sp>
        <p:nvSpPr>
          <p:cNvPr id="57" name="Google Shape;57;g3a271dd3a52_0_61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8" name="Google Shape;58;g3a271dd3a52_0_6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2"/>
        <p:cNvGrpSpPr/>
        <p:nvPr/>
      </p:nvGrpSpPr>
      <p:grpSpPr>
        <a:xfrm>
          <a:off x="0" y="0"/>
          <a:ext cx="0" cy="0"/>
          <a:chOff x="0" y="0"/>
          <a:chExt cx="0" cy="0"/>
        </a:xfrm>
      </p:grpSpPr>
      <p:sp>
        <p:nvSpPr>
          <p:cNvPr id="63" name="Google Shape;63;g3d6b927455f_0_124: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4" name="Google Shape;64;g3d6b927455f_0_12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8"/>
        <p:cNvGrpSpPr/>
        <p:nvPr/>
      </p:nvGrpSpPr>
      <p:grpSpPr>
        <a:xfrm>
          <a:off x="0" y="0"/>
          <a:ext cx="0" cy="0"/>
          <a:chOff x="0" y="0"/>
          <a:chExt cx="0" cy="0"/>
        </a:xfrm>
      </p:grpSpPr>
      <p:sp>
        <p:nvSpPr>
          <p:cNvPr id="69" name="Google Shape;69;g3d6b927455f_0_13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0" name="Google Shape;70;g3d6b927455f_0_13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4"/>
        <p:cNvGrpSpPr/>
        <p:nvPr/>
      </p:nvGrpSpPr>
      <p:grpSpPr>
        <a:xfrm>
          <a:off x="0" y="0"/>
          <a:ext cx="0" cy="0"/>
          <a:chOff x="0" y="0"/>
          <a:chExt cx="0" cy="0"/>
        </a:xfrm>
      </p:grpSpPr>
      <p:sp>
        <p:nvSpPr>
          <p:cNvPr id="75" name="Google Shape;75;g3d6b927455f_0_136: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6" name="Google Shape;76;g3d6b927455f_0_13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1"/>
        <p:cNvGrpSpPr/>
        <p:nvPr/>
      </p:nvGrpSpPr>
      <p:grpSpPr>
        <a:xfrm>
          <a:off x="0" y="0"/>
          <a:ext cx="0" cy="0"/>
          <a:chOff x="0" y="0"/>
          <a:chExt cx="0" cy="0"/>
        </a:xfrm>
      </p:grpSpPr>
      <p:sp>
        <p:nvSpPr>
          <p:cNvPr id="82" name="Google Shape;82;g3d6b927455f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3" name="Google Shape;83;g3d6b927455f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8"/>
        <p:cNvGrpSpPr/>
        <p:nvPr/>
      </p:nvGrpSpPr>
      <p:grpSpPr>
        <a:xfrm>
          <a:off x="0" y="0"/>
          <a:ext cx="0" cy="0"/>
          <a:chOff x="0" y="0"/>
          <a:chExt cx="0" cy="0"/>
        </a:xfrm>
      </p:grpSpPr>
      <p:sp>
        <p:nvSpPr>
          <p:cNvPr id="89" name="Google Shape;89;g3d6b927455f_0_7: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0" name="Google Shape;90;g3d6b927455f_0_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7"/>
        <p:cNvGrpSpPr/>
        <p:nvPr/>
      </p:nvGrpSpPr>
      <p:grpSpPr>
        <a:xfrm>
          <a:off x="0" y="0"/>
          <a:ext cx="0" cy="0"/>
          <a:chOff x="0" y="0"/>
          <a:chExt cx="0" cy="0"/>
        </a:xfrm>
      </p:grpSpPr>
      <p:sp>
        <p:nvSpPr>
          <p:cNvPr id="98" name="Google Shape;98;g3a271dd3a52_0_615: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9" name="Google Shape;99;g3a271dd3a52_0_61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
        <p:cNvGrpSpPr/>
        <p:nvPr/>
      </p:nvGrpSpPr>
      <p:grpSpPr>
        <a:xfrm>
          <a:off x="0" y="0"/>
          <a:ext cx="0" cy="0"/>
          <a:chOff x="0" y="0"/>
          <a:chExt cx="0" cy="0"/>
        </a:xfrm>
      </p:grpSpPr>
      <p:sp>
        <p:nvSpPr>
          <p:cNvPr id="105" name="Google Shape;105;g399405841bc_0_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6" name="Google Shape;106;g399405841bc_0_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1"/>
        <p:cNvGrpSpPr/>
        <p:nvPr/>
      </p:nvGrpSpPr>
      <p:grpSpPr>
        <a:xfrm>
          <a:off x="0" y="0"/>
          <a:ext cx="0" cy="0"/>
          <a:chOff x="0" y="0"/>
          <a:chExt cx="0" cy="0"/>
        </a:xfrm>
      </p:grpSpPr>
      <p:sp>
        <p:nvSpPr>
          <p:cNvPr id="112" name="Google Shape;112;g3d6b927455f_0_18: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3" name="Google Shape;113;g3d6b927455f_0_1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8"/>
        <p:cNvGrpSpPr/>
        <p:nvPr/>
      </p:nvGrpSpPr>
      <p:grpSpPr>
        <a:xfrm>
          <a:off x="0" y="0"/>
          <a:ext cx="0" cy="0"/>
          <a:chOff x="0" y="0"/>
          <a:chExt cx="0" cy="0"/>
        </a:xfrm>
      </p:grpSpPr>
      <p:sp>
        <p:nvSpPr>
          <p:cNvPr id="119" name="Google Shape;119;g3865ba9fad9_0_1: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0" name="Google Shape;120;g3865ba9fad9_0_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5"/>
        <p:cNvGrpSpPr/>
        <p:nvPr/>
      </p:nvGrpSpPr>
      <p:grpSpPr>
        <a:xfrm>
          <a:off x="0" y="0"/>
          <a:ext cx="0" cy="0"/>
          <a:chOff x="0" y="0"/>
          <a:chExt cx="0" cy="0"/>
        </a:xfrm>
      </p:grpSpPr>
      <p:sp>
        <p:nvSpPr>
          <p:cNvPr id="126" name="Google Shape;126;g3865ba9fad9_0_8: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7" name="Google Shape;127;g3865ba9fad9_0_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2"/>
        <p:cNvGrpSpPr/>
        <p:nvPr/>
      </p:nvGrpSpPr>
      <p:grpSpPr>
        <a:xfrm>
          <a:off x="0" y="0"/>
          <a:ext cx="0" cy="0"/>
          <a:chOff x="0" y="0"/>
          <a:chExt cx="0" cy="0"/>
        </a:xfrm>
      </p:grpSpPr>
      <p:sp>
        <p:nvSpPr>
          <p:cNvPr id="133" name="Google Shape;133;g3d6b927455f_0_26: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4" name="Google Shape;134;g3d6b927455f_0_2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9"/>
        <p:cNvGrpSpPr/>
        <p:nvPr/>
      </p:nvGrpSpPr>
      <p:grpSpPr>
        <a:xfrm>
          <a:off x="0" y="0"/>
          <a:ext cx="0" cy="0"/>
          <a:chOff x="0" y="0"/>
          <a:chExt cx="0" cy="0"/>
        </a:xfrm>
      </p:grpSpPr>
      <p:sp>
        <p:nvSpPr>
          <p:cNvPr id="140" name="Google Shape;140;g3d6b927455f_0_34: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1" name="Google Shape;141;g3d6b927455f_0_3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5"/>
        <p:cNvGrpSpPr/>
        <p:nvPr/>
      </p:nvGrpSpPr>
      <p:grpSpPr>
        <a:xfrm>
          <a:off x="0" y="0"/>
          <a:ext cx="0" cy="0"/>
          <a:chOff x="0" y="0"/>
          <a:chExt cx="0" cy="0"/>
        </a:xfrm>
      </p:grpSpPr>
      <p:sp>
        <p:nvSpPr>
          <p:cNvPr id="146" name="Google Shape;146;g3d6b927455f_0_4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7" name="Google Shape;147;g3d6b927455f_0_4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2"/>
        <p:cNvGrpSpPr/>
        <p:nvPr/>
      </p:nvGrpSpPr>
      <p:grpSpPr>
        <a:xfrm>
          <a:off x="0" y="0"/>
          <a:ext cx="0" cy="0"/>
          <a:chOff x="0" y="0"/>
          <a:chExt cx="0" cy="0"/>
        </a:xfrm>
      </p:grpSpPr>
      <p:sp>
        <p:nvSpPr>
          <p:cNvPr id="153" name="Google Shape;153;g3d6b927455f_0_47: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4" name="Google Shape;154;g3d6b927455f_0_4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9"/>
        <p:cNvGrpSpPr/>
        <p:nvPr/>
      </p:nvGrpSpPr>
      <p:grpSpPr>
        <a:xfrm>
          <a:off x="0" y="0"/>
          <a:ext cx="0" cy="0"/>
          <a:chOff x="0" y="0"/>
          <a:chExt cx="0" cy="0"/>
        </a:xfrm>
      </p:grpSpPr>
      <p:sp>
        <p:nvSpPr>
          <p:cNvPr id="160" name="Google Shape;160;g3d6b927455f_0_5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1" name="Google Shape;161;g3d6b927455f_0_5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6"/>
        <p:cNvGrpSpPr/>
        <p:nvPr/>
      </p:nvGrpSpPr>
      <p:grpSpPr>
        <a:xfrm>
          <a:off x="0" y="0"/>
          <a:ext cx="0" cy="0"/>
          <a:chOff x="0" y="0"/>
          <a:chExt cx="0" cy="0"/>
        </a:xfrm>
      </p:grpSpPr>
      <p:sp>
        <p:nvSpPr>
          <p:cNvPr id="167" name="Google Shape;167;g3d6b927455f_0_62: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8" name="Google Shape;168;g3d6b927455f_0_6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6"/>
        <p:cNvGrpSpPr/>
        <p:nvPr/>
      </p:nvGrpSpPr>
      <p:grpSpPr>
        <a:xfrm>
          <a:off x="0" y="0"/>
          <a:ext cx="0" cy="0"/>
          <a:chOff x="0" y="0"/>
          <a:chExt cx="0" cy="0"/>
        </a:xfrm>
      </p:grpSpPr>
      <p:sp>
        <p:nvSpPr>
          <p:cNvPr id="177" name="Google Shape;177;g3d6b927455f_0_7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8" name="Google Shape;178;g3d6b927455f_0_7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3"/>
        <p:cNvGrpSpPr/>
        <p:nvPr/>
      </p:nvGrpSpPr>
      <p:grpSpPr>
        <a:xfrm>
          <a:off x="0" y="0"/>
          <a:ext cx="0" cy="0"/>
          <a:chOff x="0" y="0"/>
          <a:chExt cx="0" cy="0"/>
        </a:xfrm>
      </p:grpSpPr>
      <p:sp>
        <p:nvSpPr>
          <p:cNvPr id="184" name="Google Shape;184;g3d6b927455f_0_84: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5" name="Google Shape;185;g3d6b927455f_0_8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0"/>
        <p:cNvGrpSpPr/>
        <p:nvPr/>
      </p:nvGrpSpPr>
      <p:grpSpPr>
        <a:xfrm>
          <a:off x="0" y="0"/>
          <a:ext cx="0" cy="0"/>
          <a:chOff x="0" y="0"/>
          <a:chExt cx="0" cy="0"/>
        </a:xfrm>
      </p:grpSpPr>
      <p:sp>
        <p:nvSpPr>
          <p:cNvPr id="191" name="Google Shape;191;g3d6b927455f_0_91: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2" name="Google Shape;192;g3d6b927455f_0_9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8"/>
        <p:cNvGrpSpPr/>
        <p:nvPr/>
      </p:nvGrpSpPr>
      <p:grpSpPr>
        <a:xfrm>
          <a:off x="0" y="0"/>
          <a:ext cx="0" cy="0"/>
          <a:chOff x="0" y="0"/>
          <a:chExt cx="0" cy="0"/>
        </a:xfrm>
      </p:grpSpPr>
      <p:sp>
        <p:nvSpPr>
          <p:cNvPr id="199" name="Google Shape;199;g3d6b927455f_0_99: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00" name="Google Shape;200;g3d6b927455f_0_9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5"/>
        <p:cNvGrpSpPr/>
        <p:nvPr/>
      </p:nvGrpSpPr>
      <p:grpSpPr>
        <a:xfrm>
          <a:off x="0" y="0"/>
          <a:ext cx="0" cy="0"/>
          <a:chOff x="0" y="0"/>
          <a:chExt cx="0" cy="0"/>
        </a:xfrm>
      </p:grpSpPr>
      <p:sp>
        <p:nvSpPr>
          <p:cNvPr id="206" name="Google Shape;206;g399405841bc_0_2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07" name="Google Shape;207;g399405841bc_0_2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1"/>
        <p:cNvGrpSpPr/>
        <p:nvPr/>
      </p:nvGrpSpPr>
      <p:grpSpPr>
        <a:xfrm>
          <a:off x="0" y="0"/>
          <a:ext cx="0" cy="0"/>
          <a:chOff x="0" y="0"/>
          <a:chExt cx="0" cy="0"/>
        </a:xfrm>
      </p:grpSpPr>
      <p:sp>
        <p:nvSpPr>
          <p:cNvPr id="212" name="Google Shape;212;g3d6b927455f_0_10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13" name="Google Shape;213;g3d6b927455f_0_10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7"/>
        <p:cNvGrpSpPr/>
        <p:nvPr/>
      </p:nvGrpSpPr>
      <p:grpSpPr>
        <a:xfrm>
          <a:off x="0" y="0"/>
          <a:ext cx="0" cy="0"/>
          <a:chOff x="0" y="0"/>
          <a:chExt cx="0" cy="0"/>
        </a:xfrm>
      </p:grpSpPr>
      <p:sp>
        <p:nvSpPr>
          <p:cNvPr id="218" name="Google Shape;218;g3d6b927455f_0_11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19" name="Google Shape;219;g3d6b927455f_0_11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3"/>
        <p:cNvGrpSpPr/>
        <p:nvPr/>
      </p:nvGrpSpPr>
      <p:grpSpPr>
        <a:xfrm>
          <a:off x="0" y="0"/>
          <a:ext cx="0" cy="0"/>
          <a:chOff x="0" y="0"/>
          <a:chExt cx="0" cy="0"/>
        </a:xfrm>
      </p:grpSpPr>
      <p:sp>
        <p:nvSpPr>
          <p:cNvPr id="224" name="Google Shape;224;g3d6b927455f_0_117: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25" name="Google Shape;225;g3d6b927455f_0_11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9"/>
        <p:cNvGrpSpPr/>
        <p:nvPr/>
      </p:nvGrpSpPr>
      <p:grpSpPr>
        <a:xfrm>
          <a:off x="0" y="0"/>
          <a:ext cx="0" cy="0"/>
          <a:chOff x="0" y="0"/>
          <a:chExt cx="0" cy="0"/>
        </a:xfrm>
      </p:grpSpPr>
      <p:sp>
        <p:nvSpPr>
          <p:cNvPr id="230" name="Google Shape;230;g399405841bc_0_26: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1" name="Google Shape;231;g399405841bc_0_2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5"/>
        <p:cNvGrpSpPr/>
        <p:nvPr/>
      </p:nvGrpSpPr>
      <p:grpSpPr>
        <a:xfrm>
          <a:off x="0" y="0"/>
          <a:ext cx="0" cy="0"/>
          <a:chOff x="0" y="0"/>
          <a:chExt cx="0" cy="0"/>
        </a:xfrm>
      </p:grpSpPr>
      <p:sp>
        <p:nvSpPr>
          <p:cNvPr id="236" name="Google Shape;236;g3865ba9fad9_0_16: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7" name="Google Shape;237;g3865ba9fad9_0_1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sp>
        <p:nvSpPr>
          <p:cNvPr id="10" name="Google Shape;10;p2"/>
          <p:cNvSpPr txBox="1">
            <a:spLocks noGrp="1"/>
          </p:cNvSpPr>
          <p:nvPr>
            <p:ph type="ctrTitle"/>
          </p:nvPr>
        </p:nvSpPr>
        <p:spPr>
          <a:xfrm>
            <a:off x="311708" y="744575"/>
            <a:ext cx="8520600" cy="2052600"/>
          </a:xfrm>
          <a:prstGeom prst="rect">
            <a:avLst/>
          </a:prstGeom>
        </p:spPr>
        <p:txBody>
          <a:bodyPr spcFirstLastPara="1" wrap="square" lIns="91425" tIns="91425" rIns="91425" bIns="91425" anchor="b" anchorCtr="0">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a:endParaRPr/>
          </a:p>
        </p:txBody>
      </p:sp>
      <p:sp>
        <p:nvSpPr>
          <p:cNvPr id="11" name="Google Shape;11;p2"/>
          <p:cNvSpPr txBox="1">
            <a:spLocks noGrp="1"/>
          </p:cNvSpPr>
          <p:nvPr>
            <p:ph type="subTitle" idx="1"/>
          </p:nvPr>
        </p:nvSpPr>
        <p:spPr>
          <a:xfrm>
            <a:off x="311700" y="2834125"/>
            <a:ext cx="8520600" cy="7926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12" name="Google Shape;12;p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3"/>
        <p:cNvGrpSpPr/>
        <p:nvPr/>
      </p:nvGrpSpPr>
      <p:grpSpPr>
        <a:xfrm>
          <a:off x="0" y="0"/>
          <a:ext cx="0" cy="0"/>
          <a:chOff x="0" y="0"/>
          <a:chExt cx="0" cy="0"/>
        </a:xfrm>
      </p:grpSpPr>
      <p:sp>
        <p:nvSpPr>
          <p:cNvPr id="14" name="Google Shape;14;p3"/>
          <p:cNvSpPr txBox="1">
            <a:spLocks noGrp="1"/>
          </p:cNvSpPr>
          <p:nvPr>
            <p:ph type="title"/>
          </p:nvPr>
        </p:nvSpPr>
        <p:spPr>
          <a:xfrm>
            <a:off x="311700" y="2150850"/>
            <a:ext cx="8520600" cy="841800"/>
          </a:xfrm>
          <a:prstGeom prst="rect">
            <a:avLst/>
          </a:prstGeom>
        </p:spPr>
        <p:txBody>
          <a:bodyPr spcFirstLastPara="1" wrap="square" lIns="91425" tIns="91425" rIns="91425" bIns="91425" anchor="ctr" anchorCtr="0">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endParaRPr/>
          </a:p>
        </p:txBody>
      </p:sp>
      <p:sp>
        <p:nvSpPr>
          <p:cNvPr id="15" name="Google Shape;15;p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6"/>
        <p:cNvGrpSpPr/>
        <p:nvPr/>
      </p:nvGrpSpPr>
      <p:grpSpPr>
        <a:xfrm>
          <a:off x="0" y="0"/>
          <a:ext cx="0" cy="0"/>
          <a:chOff x="0" y="0"/>
          <a:chExt cx="0" cy="0"/>
        </a:xfrm>
      </p:grpSpPr>
      <p:sp>
        <p:nvSpPr>
          <p:cNvPr id="17" name="Google Shape;17;p4"/>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18" name="Google Shape;18;p4"/>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19" name="Google Shape;19;p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0"/>
        <p:cNvGrpSpPr/>
        <p:nvPr/>
      </p:nvGrpSpPr>
      <p:grpSpPr>
        <a:xfrm>
          <a:off x="0" y="0"/>
          <a:ext cx="0" cy="0"/>
          <a:chOff x="0" y="0"/>
          <a:chExt cx="0" cy="0"/>
        </a:xfrm>
      </p:grpSpPr>
      <p:sp>
        <p:nvSpPr>
          <p:cNvPr id="21" name="Google Shape;21;p5"/>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2" name="Google Shape;22;p5"/>
          <p:cNvSpPr txBox="1">
            <a:spLocks noGrp="1"/>
          </p:cNvSpPr>
          <p:nvPr>
            <p:ph type="body" idx="1"/>
          </p:nvPr>
        </p:nvSpPr>
        <p:spPr>
          <a:xfrm>
            <a:off x="3117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3" name="Google Shape;23;p5"/>
          <p:cNvSpPr txBox="1">
            <a:spLocks noGrp="1"/>
          </p:cNvSpPr>
          <p:nvPr>
            <p:ph type="body" idx="2"/>
          </p:nvPr>
        </p:nvSpPr>
        <p:spPr>
          <a:xfrm>
            <a:off x="48324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4" name="Google Shape;24;p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5"/>
        <p:cNvGrpSpPr/>
        <p:nvPr/>
      </p:nvGrpSpPr>
      <p:grpSpPr>
        <a:xfrm>
          <a:off x="0" y="0"/>
          <a:ext cx="0" cy="0"/>
          <a:chOff x="0" y="0"/>
          <a:chExt cx="0" cy="0"/>
        </a:xfrm>
      </p:grpSpPr>
      <p:sp>
        <p:nvSpPr>
          <p:cNvPr id="26" name="Google Shape;26;p6"/>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7" name="Google Shape;27;p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28"/>
        <p:cNvGrpSpPr/>
        <p:nvPr/>
      </p:nvGrpSpPr>
      <p:grpSpPr>
        <a:xfrm>
          <a:off x="0" y="0"/>
          <a:ext cx="0" cy="0"/>
          <a:chOff x="0" y="0"/>
          <a:chExt cx="0" cy="0"/>
        </a:xfrm>
      </p:grpSpPr>
      <p:sp>
        <p:nvSpPr>
          <p:cNvPr id="29" name="Google Shape;29;p7"/>
          <p:cNvSpPr txBox="1">
            <a:spLocks noGrp="1"/>
          </p:cNvSpPr>
          <p:nvPr>
            <p:ph type="title"/>
          </p:nvPr>
        </p:nvSpPr>
        <p:spPr>
          <a:xfrm>
            <a:off x="311700" y="555600"/>
            <a:ext cx="2808000" cy="755700"/>
          </a:xfrm>
          <a:prstGeom prst="rect">
            <a:avLst/>
          </a:prstGeom>
        </p:spPr>
        <p:txBody>
          <a:bodyPr spcFirstLastPara="1" wrap="square" lIns="91425" tIns="91425" rIns="91425" bIns="91425" anchor="b" anchorCtr="0">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endParaRPr/>
          </a:p>
        </p:txBody>
      </p:sp>
      <p:sp>
        <p:nvSpPr>
          <p:cNvPr id="30" name="Google Shape;30;p7"/>
          <p:cNvSpPr txBox="1">
            <a:spLocks noGrp="1"/>
          </p:cNvSpPr>
          <p:nvPr>
            <p:ph type="body" idx="1"/>
          </p:nvPr>
        </p:nvSpPr>
        <p:spPr>
          <a:xfrm>
            <a:off x="311700" y="1389600"/>
            <a:ext cx="2808000" cy="3179400"/>
          </a:xfrm>
          <a:prstGeom prst="rect">
            <a:avLst/>
          </a:prstGeom>
        </p:spPr>
        <p:txBody>
          <a:bodyPr spcFirstLastPara="1" wrap="square" lIns="91425" tIns="91425" rIns="91425" bIns="91425" anchor="t" anchorCtr="0">
            <a:normAutofit/>
          </a:bodyPr>
          <a:lstStyle>
            <a:lvl1pPr marL="457200" lvl="0" indent="-304800">
              <a:spcBef>
                <a:spcPts val="0"/>
              </a:spcBef>
              <a:spcAft>
                <a:spcPts val="0"/>
              </a:spcAft>
              <a:buSzPts val="1200"/>
              <a:buChar char="●"/>
              <a:defRPr sz="12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31" name="Google Shape;31;p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32"/>
        <p:cNvGrpSpPr/>
        <p:nvPr/>
      </p:nvGrpSpPr>
      <p:grpSpPr>
        <a:xfrm>
          <a:off x="0" y="0"/>
          <a:ext cx="0" cy="0"/>
          <a:chOff x="0" y="0"/>
          <a:chExt cx="0" cy="0"/>
        </a:xfrm>
      </p:grpSpPr>
      <p:sp>
        <p:nvSpPr>
          <p:cNvPr id="33" name="Google Shape;33;p8"/>
          <p:cNvSpPr txBox="1">
            <a:spLocks noGrp="1"/>
          </p:cNvSpPr>
          <p:nvPr>
            <p:ph type="title"/>
          </p:nvPr>
        </p:nvSpPr>
        <p:spPr>
          <a:xfrm>
            <a:off x="490250" y="450150"/>
            <a:ext cx="6367800" cy="4090800"/>
          </a:xfrm>
          <a:prstGeom prst="rect">
            <a:avLst/>
          </a:prstGeom>
        </p:spPr>
        <p:txBody>
          <a:bodyPr spcFirstLastPara="1" wrap="square" lIns="91425" tIns="91425" rIns="91425" bIns="91425" anchor="ctr" anchorCtr="0">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a:endParaRPr/>
          </a:p>
        </p:txBody>
      </p:sp>
      <p:sp>
        <p:nvSpPr>
          <p:cNvPr id="34" name="Google Shape;34;p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37;p9"/>
          <p:cNvSpPr txBox="1">
            <a:spLocks noGrp="1"/>
          </p:cNvSpPr>
          <p:nvPr>
            <p:ph type="title"/>
          </p:nvPr>
        </p:nvSpPr>
        <p:spPr>
          <a:xfrm>
            <a:off x="265500" y="1233175"/>
            <a:ext cx="4045200" cy="1482300"/>
          </a:xfrm>
          <a:prstGeom prst="rect">
            <a:avLst/>
          </a:prstGeom>
        </p:spPr>
        <p:txBody>
          <a:bodyPr spcFirstLastPara="1" wrap="square" lIns="91425" tIns="91425" rIns="91425" bIns="91425" anchor="b" anchorCtr="0">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a:endParaRPr/>
          </a:p>
        </p:txBody>
      </p:sp>
      <p:sp>
        <p:nvSpPr>
          <p:cNvPr id="38" name="Google Shape;38;p9"/>
          <p:cNvSpPr txBox="1">
            <a:spLocks noGrp="1"/>
          </p:cNvSpPr>
          <p:nvPr>
            <p:ph type="subTitle" idx="1"/>
          </p:nvPr>
        </p:nvSpPr>
        <p:spPr>
          <a:xfrm>
            <a:off x="265500" y="2803075"/>
            <a:ext cx="4045200" cy="12351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39" name="Google Shape;39;p9"/>
          <p:cNvSpPr txBox="1">
            <a:spLocks noGrp="1"/>
          </p:cNvSpPr>
          <p:nvPr>
            <p:ph type="body" idx="2"/>
          </p:nvPr>
        </p:nvSpPr>
        <p:spPr>
          <a:xfrm>
            <a:off x="4939500" y="724075"/>
            <a:ext cx="3837000" cy="3695100"/>
          </a:xfrm>
          <a:prstGeom prst="rect">
            <a:avLst/>
          </a:prstGeom>
        </p:spPr>
        <p:txBody>
          <a:bodyPr spcFirstLastPara="1" wrap="square" lIns="91425" tIns="91425" rIns="91425" bIns="91425" anchor="ctr"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40" name="Google Shape;40;p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41"/>
        <p:cNvGrpSpPr/>
        <p:nvPr/>
      </p:nvGrpSpPr>
      <p:grpSpPr>
        <a:xfrm>
          <a:off x="0" y="0"/>
          <a:ext cx="0" cy="0"/>
          <a:chOff x="0" y="0"/>
          <a:chExt cx="0" cy="0"/>
        </a:xfrm>
      </p:grpSpPr>
      <p:sp>
        <p:nvSpPr>
          <p:cNvPr id="42" name="Google Shape;42;p10"/>
          <p:cNvSpPr txBox="1">
            <a:spLocks noGrp="1"/>
          </p:cNvSpPr>
          <p:nvPr>
            <p:ph type="body" idx="1"/>
          </p:nvPr>
        </p:nvSpPr>
        <p:spPr>
          <a:xfrm>
            <a:off x="311700" y="4230575"/>
            <a:ext cx="5998800" cy="605100"/>
          </a:xfrm>
          <a:prstGeom prst="rect">
            <a:avLst/>
          </a:prstGeom>
        </p:spPr>
        <p:txBody>
          <a:bodyPr spcFirstLastPara="1" wrap="square" lIns="91425" tIns="91425" rIns="91425" bIns="91425" anchor="ctr" anchorCtr="0">
            <a:normAutofit/>
          </a:bodyPr>
          <a:lstStyle>
            <a:lvl1pPr marL="457200" lvl="0" indent="-228600">
              <a:lnSpc>
                <a:spcPct val="100000"/>
              </a:lnSpc>
              <a:spcBef>
                <a:spcPts val="0"/>
              </a:spcBef>
              <a:spcAft>
                <a:spcPts val="0"/>
              </a:spcAft>
              <a:buSzPts val="1800"/>
              <a:buNone/>
              <a:defRPr/>
            </a:lvl1pPr>
          </a:lstStyle>
          <a:p>
            <a:endParaRPr/>
          </a:p>
        </p:txBody>
      </p:sp>
      <p:sp>
        <p:nvSpPr>
          <p:cNvPr id="43" name="Google Shape;43;p1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44"/>
        <p:cNvGrpSpPr/>
        <p:nvPr/>
      </p:nvGrpSpPr>
      <p:grpSpPr>
        <a:xfrm>
          <a:off x="0" y="0"/>
          <a:ext cx="0" cy="0"/>
          <a:chOff x="0" y="0"/>
          <a:chExt cx="0" cy="0"/>
        </a:xfrm>
      </p:grpSpPr>
      <p:sp>
        <p:nvSpPr>
          <p:cNvPr id="45" name="Google Shape;45;p11"/>
          <p:cNvSpPr txBox="1">
            <a:spLocks noGrp="1"/>
          </p:cNvSpPr>
          <p:nvPr>
            <p:ph type="title" hasCustomPrompt="1"/>
          </p:nvPr>
        </p:nvSpPr>
        <p:spPr>
          <a:xfrm>
            <a:off x="311700" y="1106125"/>
            <a:ext cx="8520600" cy="1963500"/>
          </a:xfrm>
          <a:prstGeom prst="rect">
            <a:avLst/>
          </a:prstGeom>
        </p:spPr>
        <p:txBody>
          <a:bodyPr spcFirstLastPara="1" wrap="square" lIns="91425" tIns="91425" rIns="91425" bIns="91425" anchor="b" anchorCtr="0">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a:spLocks noGrp="1"/>
          </p:cNvSpPr>
          <p:nvPr>
            <p:ph type="body" idx="1"/>
          </p:nvPr>
        </p:nvSpPr>
        <p:spPr>
          <a:xfrm>
            <a:off x="311700" y="3152225"/>
            <a:ext cx="8520600" cy="1300800"/>
          </a:xfrm>
          <a:prstGeom prst="rect">
            <a:avLst/>
          </a:prstGeom>
        </p:spPr>
        <p:txBody>
          <a:bodyPr spcFirstLastPara="1" wrap="square" lIns="91425" tIns="91425" rIns="91425" bIns="91425" anchor="t" anchorCtr="0">
            <a:normAutofit/>
          </a:bodyPr>
          <a:lstStyle>
            <a:lvl1pPr marL="457200" lvl="0" indent="-342900" algn="ctr">
              <a:spcBef>
                <a:spcPts val="0"/>
              </a:spcBef>
              <a:spcAft>
                <a:spcPts val="0"/>
              </a:spcAft>
              <a:buSzPts val="1800"/>
              <a:buChar char="●"/>
              <a:defRPr/>
            </a:lvl1pPr>
            <a:lvl2pPr marL="914400" lvl="1" indent="-317500" algn="ctr">
              <a:spcBef>
                <a:spcPts val="0"/>
              </a:spcBef>
              <a:spcAft>
                <a:spcPts val="0"/>
              </a:spcAft>
              <a:buSzPts val="1400"/>
              <a:buChar char="○"/>
              <a:defRPr/>
            </a:lvl2pPr>
            <a:lvl3pPr marL="1371600" lvl="2" indent="-317500" algn="ctr">
              <a:spcBef>
                <a:spcPts val="0"/>
              </a:spcBef>
              <a:spcAft>
                <a:spcPts val="0"/>
              </a:spcAft>
              <a:buSzPts val="1400"/>
              <a:buChar char="■"/>
              <a:defRPr/>
            </a:lvl3pPr>
            <a:lvl4pPr marL="1828800" lvl="3" indent="-317500" algn="ctr">
              <a:spcBef>
                <a:spcPts val="0"/>
              </a:spcBef>
              <a:spcAft>
                <a:spcPts val="0"/>
              </a:spcAft>
              <a:buSzPts val="1400"/>
              <a:buChar char="●"/>
              <a:defRPr/>
            </a:lvl4pPr>
            <a:lvl5pPr marL="2286000" lvl="4" indent="-317500" algn="ctr">
              <a:spcBef>
                <a:spcPts val="0"/>
              </a:spcBef>
              <a:spcAft>
                <a:spcPts val="0"/>
              </a:spcAft>
              <a:buSzPts val="1400"/>
              <a:buChar char="○"/>
              <a:defRPr/>
            </a:lvl5pPr>
            <a:lvl6pPr marL="2743200" lvl="5" indent="-317500" algn="ctr">
              <a:spcBef>
                <a:spcPts val="0"/>
              </a:spcBef>
              <a:spcAft>
                <a:spcPts val="0"/>
              </a:spcAft>
              <a:buSzPts val="1400"/>
              <a:buChar char="■"/>
              <a:defRPr/>
            </a:lvl6pPr>
            <a:lvl7pPr marL="3200400" lvl="6" indent="-317500" algn="ctr">
              <a:spcBef>
                <a:spcPts val="0"/>
              </a:spcBef>
              <a:spcAft>
                <a:spcPts val="0"/>
              </a:spcAft>
              <a:buSzPts val="1400"/>
              <a:buChar char="●"/>
              <a:defRPr/>
            </a:lvl7pPr>
            <a:lvl8pPr marL="3657600" lvl="7" indent="-317500" algn="ctr">
              <a:spcBef>
                <a:spcPts val="0"/>
              </a:spcBef>
              <a:spcAft>
                <a:spcPts val="0"/>
              </a:spcAft>
              <a:buSzPts val="1400"/>
              <a:buChar char="○"/>
              <a:defRPr/>
            </a:lvl8pPr>
            <a:lvl9pPr marL="4114800" lvl="8" indent="-317500" algn="ctr">
              <a:spcBef>
                <a:spcPts val="0"/>
              </a:spcBef>
              <a:spcAft>
                <a:spcPts val="0"/>
              </a:spcAft>
              <a:buSzPts val="1400"/>
              <a:buChar char="■"/>
              <a:defRPr/>
            </a:lvl9pPr>
          </a:lstStyle>
          <a:p>
            <a:endParaRPr/>
          </a:p>
        </p:txBody>
      </p:sp>
      <p:sp>
        <p:nvSpPr>
          <p:cNvPr id="47" name="Google Shape;47;p1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48"/>
        <p:cNvGrpSpPr/>
        <p:nvPr/>
      </p:nvGrpSpPr>
      <p:grpSpPr>
        <a:xfrm>
          <a:off x="0" y="0"/>
          <a:ext cx="0" cy="0"/>
          <a:chOff x="0" y="0"/>
          <a:chExt cx="0" cy="0"/>
        </a:xfrm>
      </p:grpSpPr>
      <p:sp>
        <p:nvSpPr>
          <p:cNvPr id="49" name="Google Shape;49;p1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lvl="0" indent="-342900">
              <a:lnSpc>
                <a:spcPct val="115000"/>
              </a:lnSpc>
              <a:spcBef>
                <a:spcPts val="0"/>
              </a:spcBef>
              <a:spcAft>
                <a:spcPts val="0"/>
              </a:spcAft>
              <a:buClr>
                <a:schemeClr val="dk2"/>
              </a:buClr>
              <a:buSzPts val="1800"/>
              <a:buChar char="●"/>
              <a:defRPr sz="1800">
                <a:solidFill>
                  <a:schemeClr val="dk2"/>
                </a:solidFill>
              </a:defRPr>
            </a:lvl1pPr>
            <a:lvl2pPr marL="914400" lvl="1" indent="-317500">
              <a:lnSpc>
                <a:spcPct val="115000"/>
              </a:lnSpc>
              <a:spcBef>
                <a:spcPts val="0"/>
              </a:spcBef>
              <a:spcAft>
                <a:spcPts val="0"/>
              </a:spcAft>
              <a:buClr>
                <a:schemeClr val="dk2"/>
              </a:buClr>
              <a:buSzPts val="1400"/>
              <a:buChar char="○"/>
              <a:defRPr>
                <a:solidFill>
                  <a:schemeClr val="dk2"/>
                </a:solidFill>
              </a:defRPr>
            </a:lvl2pPr>
            <a:lvl3pPr marL="1371600" lvl="2" indent="-317500">
              <a:lnSpc>
                <a:spcPct val="115000"/>
              </a:lnSpc>
              <a:spcBef>
                <a:spcPts val="0"/>
              </a:spcBef>
              <a:spcAft>
                <a:spcPts val="0"/>
              </a:spcAft>
              <a:buClr>
                <a:schemeClr val="dk2"/>
              </a:buClr>
              <a:buSzPts val="1400"/>
              <a:buChar char="■"/>
              <a:defRPr>
                <a:solidFill>
                  <a:schemeClr val="dk2"/>
                </a:solidFill>
              </a:defRPr>
            </a:lvl3pPr>
            <a:lvl4pPr marL="1828800" lvl="3" indent="-317500">
              <a:lnSpc>
                <a:spcPct val="115000"/>
              </a:lnSpc>
              <a:spcBef>
                <a:spcPts val="0"/>
              </a:spcBef>
              <a:spcAft>
                <a:spcPts val="0"/>
              </a:spcAft>
              <a:buClr>
                <a:schemeClr val="dk2"/>
              </a:buClr>
              <a:buSzPts val="1400"/>
              <a:buChar char="●"/>
              <a:defRPr>
                <a:solidFill>
                  <a:schemeClr val="dk2"/>
                </a:solidFill>
              </a:defRPr>
            </a:lvl4pPr>
            <a:lvl5pPr marL="2286000" lvl="4" indent="-317500">
              <a:lnSpc>
                <a:spcPct val="115000"/>
              </a:lnSpc>
              <a:spcBef>
                <a:spcPts val="0"/>
              </a:spcBef>
              <a:spcAft>
                <a:spcPts val="0"/>
              </a:spcAft>
              <a:buClr>
                <a:schemeClr val="dk2"/>
              </a:buClr>
              <a:buSzPts val="1400"/>
              <a:buChar char="○"/>
              <a:defRPr>
                <a:solidFill>
                  <a:schemeClr val="dk2"/>
                </a:solidFill>
              </a:defRPr>
            </a:lvl5pPr>
            <a:lvl6pPr marL="2743200" lvl="5" indent="-317500">
              <a:lnSpc>
                <a:spcPct val="115000"/>
              </a:lnSpc>
              <a:spcBef>
                <a:spcPts val="0"/>
              </a:spcBef>
              <a:spcAft>
                <a:spcPts val="0"/>
              </a:spcAft>
              <a:buClr>
                <a:schemeClr val="dk2"/>
              </a:buClr>
              <a:buSzPts val="1400"/>
              <a:buChar char="■"/>
              <a:defRPr>
                <a:solidFill>
                  <a:schemeClr val="dk2"/>
                </a:solidFill>
              </a:defRPr>
            </a:lvl6pPr>
            <a:lvl7pPr marL="3200400" lvl="6" indent="-317500">
              <a:lnSpc>
                <a:spcPct val="115000"/>
              </a:lnSpc>
              <a:spcBef>
                <a:spcPts val="0"/>
              </a:spcBef>
              <a:spcAft>
                <a:spcPts val="0"/>
              </a:spcAft>
              <a:buClr>
                <a:schemeClr val="dk2"/>
              </a:buClr>
              <a:buSzPts val="1400"/>
              <a:buChar char="●"/>
              <a:defRPr>
                <a:solidFill>
                  <a:schemeClr val="dk2"/>
                </a:solidFill>
              </a:defRPr>
            </a:lvl7pPr>
            <a:lvl8pPr marL="3657600" lvl="7" indent="-317500">
              <a:lnSpc>
                <a:spcPct val="115000"/>
              </a:lnSpc>
              <a:spcBef>
                <a:spcPts val="0"/>
              </a:spcBef>
              <a:spcAft>
                <a:spcPts val="0"/>
              </a:spcAft>
              <a:buClr>
                <a:schemeClr val="dk2"/>
              </a:buClr>
              <a:buSzPts val="1400"/>
              <a:buChar char="○"/>
              <a:defRPr>
                <a:solidFill>
                  <a:schemeClr val="dk2"/>
                </a:solidFill>
              </a:defRPr>
            </a:lvl8pPr>
            <a:lvl9pPr marL="4114800" lvl="8" indent="-317500">
              <a:lnSpc>
                <a:spcPct val="115000"/>
              </a:lnSpc>
              <a:spcBef>
                <a:spcPts val="0"/>
              </a:spcBef>
              <a:spcAft>
                <a:spcPts val="0"/>
              </a:spcAft>
              <a:buClr>
                <a:schemeClr val="dk2"/>
              </a:buClr>
              <a:buSzPts val="1400"/>
              <a:buChar char="■"/>
              <a:defRPr>
                <a:solidFill>
                  <a:schemeClr val="dk2"/>
                </a:solidFill>
              </a:defRPr>
            </a:lvl9pPr>
          </a:lstStyle>
          <a:p>
            <a:endParaRPr/>
          </a:p>
        </p:txBody>
      </p:sp>
      <p:sp>
        <p:nvSpPr>
          <p:cNvPr id="8" name="Google Shape;8;p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marL="0" lvl="0" indent="0" algn="r" rtl="0">
              <a:spcBef>
                <a:spcPts val="0"/>
              </a:spcBef>
              <a:spcAft>
                <a:spcPts val="0"/>
              </a:spcAft>
              <a:buNone/>
            </a:pPr>
            <a:fld id="{00000000-1234-1234-1234-123412341234}" type="slidenum">
              <a:rPr lang="en-GB"/>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3.xml"/><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5.xml"/><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6.xml"/><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7.xml"/><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8.xml"/><Relationship Id="rId1" Type="http://schemas.openxmlformats.org/officeDocument/2006/relationships/slideLayout" Target="../slideLayouts/slideLayout4.xml"/><Relationship Id="rId5" Type="http://schemas.openxmlformats.org/officeDocument/2006/relationships/image" Target="../media/image13.png"/><Relationship Id="rId4" Type="http://schemas.openxmlformats.org/officeDocument/2006/relationships/image" Target="../media/image12.png"/></Relationships>
</file>

<file path=ppt/slides/_rels/slide21.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9.xml"/><Relationship Id="rId1" Type="http://schemas.openxmlformats.org/officeDocument/2006/relationships/slideLayout" Target="../slideLayouts/slideLayout4.xml"/></Relationships>
</file>

<file path=ppt/slides/_rels/slide22.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20.xml"/><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21.xml"/><Relationship Id="rId1" Type="http://schemas.openxmlformats.org/officeDocument/2006/relationships/slideLayout" Target="../slideLayouts/slideLayout3.xml"/><Relationship Id="rId4" Type="http://schemas.openxmlformats.org/officeDocument/2006/relationships/image" Target="../media/image17.png"/></Relationships>
</file>

<file path=ppt/slides/_rels/slide24.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22.xml"/><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3.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3.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53"/>
        <p:cNvGrpSpPr/>
        <p:nvPr/>
      </p:nvGrpSpPr>
      <p:grpSpPr>
        <a:xfrm>
          <a:off x="0" y="0"/>
          <a:ext cx="0" cy="0"/>
          <a:chOff x="0" y="0"/>
          <a:chExt cx="0" cy="0"/>
        </a:xfrm>
      </p:grpSpPr>
      <p:sp>
        <p:nvSpPr>
          <p:cNvPr id="54" name="Google Shape;54;p13"/>
          <p:cNvSpPr txBox="1">
            <a:spLocks noGrp="1"/>
          </p:cNvSpPr>
          <p:nvPr>
            <p:ph type="title"/>
          </p:nvPr>
        </p:nvSpPr>
        <p:spPr>
          <a:xfrm>
            <a:off x="311700" y="706050"/>
            <a:ext cx="8520600" cy="841800"/>
          </a:xfrm>
          <a:prstGeom prst="rect">
            <a:avLst/>
          </a:prstGeom>
        </p:spPr>
        <p:txBody>
          <a:bodyPr spcFirstLastPara="1" wrap="square" lIns="91425" tIns="91425" rIns="91425" bIns="91425" anchor="ctr" anchorCtr="0">
            <a:normAutofit/>
          </a:bodyPr>
          <a:lstStyle/>
          <a:p>
            <a:pPr marL="0" lvl="0" indent="0" algn="ctr" rtl="0">
              <a:spcBef>
                <a:spcPts val="0"/>
              </a:spcBef>
              <a:spcAft>
                <a:spcPts val="0"/>
              </a:spcAft>
              <a:buNone/>
            </a:pPr>
            <a:r>
              <a:rPr lang="en-GB">
                <a:latin typeface="Times New Roman"/>
                <a:ea typeface="Times New Roman"/>
                <a:cs typeface="Times New Roman"/>
                <a:sym typeface="Times New Roman"/>
              </a:rPr>
              <a:t>Automated Resume Screening</a:t>
            </a:r>
            <a:endParaRPr>
              <a:latin typeface="Times New Roman"/>
              <a:ea typeface="Times New Roman"/>
              <a:cs typeface="Times New Roman"/>
              <a:sym typeface="Times New Roman"/>
            </a:endParaRPr>
          </a:p>
        </p:txBody>
      </p:sp>
      <p:sp>
        <p:nvSpPr>
          <p:cNvPr id="55" name="Google Shape;55;p13"/>
          <p:cNvSpPr txBox="1"/>
          <p:nvPr/>
        </p:nvSpPr>
        <p:spPr>
          <a:xfrm>
            <a:off x="1714500" y="1780850"/>
            <a:ext cx="5629500" cy="2761200"/>
          </a:xfrm>
          <a:prstGeom prst="rect">
            <a:avLst/>
          </a:prstGeom>
          <a:noFill/>
          <a:ln w="9525" cap="flat" cmpd="sng">
            <a:solidFill>
              <a:schemeClr val="lt2"/>
            </a:solidFill>
            <a:prstDash val="solid"/>
            <a:round/>
            <a:headEnd type="none" w="sm" len="sm"/>
            <a:tailEnd type="none" w="sm" len="sm"/>
          </a:ln>
        </p:spPr>
        <p:txBody>
          <a:bodyPr spcFirstLastPara="1" wrap="square" lIns="91425" tIns="91425" rIns="91425" bIns="91425" anchor="t" anchorCtr="0">
            <a:noAutofit/>
          </a:bodyPr>
          <a:lstStyle/>
          <a:p>
            <a:pPr marL="0" lvl="0" indent="0" algn="ctr" rtl="0">
              <a:spcBef>
                <a:spcPts val="0"/>
              </a:spcBef>
              <a:spcAft>
                <a:spcPts val="0"/>
              </a:spcAft>
              <a:buNone/>
            </a:pPr>
            <a:r>
              <a:rPr lang="en-GB" sz="1800">
                <a:solidFill>
                  <a:schemeClr val="dk2"/>
                </a:solidFill>
                <a:latin typeface="Times New Roman"/>
                <a:ea typeface="Times New Roman"/>
                <a:cs typeface="Times New Roman"/>
                <a:sym typeface="Times New Roman"/>
              </a:rPr>
              <a:t>A project based on Machine Learnng and Natural Language Processing.</a:t>
            </a:r>
            <a:endParaRPr sz="1800">
              <a:solidFill>
                <a:schemeClr val="dk2"/>
              </a:solidFill>
              <a:latin typeface="Times New Roman"/>
              <a:ea typeface="Times New Roman"/>
              <a:cs typeface="Times New Roman"/>
              <a:sym typeface="Times New Roman"/>
            </a:endParaRPr>
          </a:p>
          <a:p>
            <a:pPr marL="0" lvl="0" indent="0" algn="ctr" rtl="0">
              <a:spcBef>
                <a:spcPts val="0"/>
              </a:spcBef>
              <a:spcAft>
                <a:spcPts val="0"/>
              </a:spcAft>
              <a:buNone/>
            </a:pPr>
            <a:endParaRPr sz="1800">
              <a:solidFill>
                <a:schemeClr val="dk2"/>
              </a:solidFill>
              <a:latin typeface="Times New Roman"/>
              <a:ea typeface="Times New Roman"/>
              <a:cs typeface="Times New Roman"/>
              <a:sym typeface="Times New Roman"/>
            </a:endParaRPr>
          </a:p>
          <a:p>
            <a:pPr marL="0" lvl="0" indent="0" algn="ctr" rtl="0">
              <a:spcBef>
                <a:spcPts val="0"/>
              </a:spcBef>
              <a:spcAft>
                <a:spcPts val="0"/>
              </a:spcAft>
              <a:buNone/>
            </a:pPr>
            <a:r>
              <a:rPr lang="en-GB" sz="1800">
                <a:solidFill>
                  <a:schemeClr val="dk2"/>
                </a:solidFill>
                <a:latin typeface="Times New Roman"/>
                <a:ea typeface="Times New Roman"/>
                <a:cs typeface="Times New Roman"/>
                <a:sym typeface="Times New Roman"/>
              </a:rPr>
              <a:t>By</a:t>
            </a:r>
            <a:endParaRPr sz="1800">
              <a:solidFill>
                <a:schemeClr val="dk2"/>
              </a:solidFill>
              <a:latin typeface="Times New Roman"/>
              <a:ea typeface="Times New Roman"/>
              <a:cs typeface="Times New Roman"/>
              <a:sym typeface="Times New Roman"/>
            </a:endParaRPr>
          </a:p>
          <a:p>
            <a:pPr marL="0" lvl="0" indent="0" algn="ctr" rtl="0">
              <a:spcBef>
                <a:spcPts val="0"/>
              </a:spcBef>
              <a:spcAft>
                <a:spcPts val="0"/>
              </a:spcAft>
              <a:buNone/>
            </a:pPr>
            <a:r>
              <a:rPr lang="en-GB" sz="1800">
                <a:solidFill>
                  <a:schemeClr val="dk2"/>
                </a:solidFill>
                <a:latin typeface="Times New Roman"/>
                <a:ea typeface="Times New Roman"/>
                <a:cs typeface="Times New Roman"/>
                <a:sym typeface="Times New Roman"/>
              </a:rPr>
              <a:t>Arya Barman (506)</a:t>
            </a:r>
            <a:endParaRPr sz="1800">
              <a:solidFill>
                <a:schemeClr val="dk2"/>
              </a:solidFill>
              <a:latin typeface="Times New Roman"/>
              <a:ea typeface="Times New Roman"/>
              <a:cs typeface="Times New Roman"/>
              <a:sym typeface="Times New Roman"/>
            </a:endParaRPr>
          </a:p>
          <a:p>
            <a:pPr marL="0" lvl="0" indent="0" algn="ctr" rtl="0">
              <a:spcBef>
                <a:spcPts val="0"/>
              </a:spcBef>
              <a:spcAft>
                <a:spcPts val="0"/>
              </a:spcAft>
              <a:buNone/>
            </a:pPr>
            <a:r>
              <a:rPr lang="en-GB" sz="1800">
                <a:solidFill>
                  <a:schemeClr val="dk2"/>
                </a:solidFill>
                <a:latin typeface="Times New Roman"/>
                <a:ea typeface="Times New Roman"/>
                <a:cs typeface="Times New Roman"/>
                <a:sym typeface="Times New Roman"/>
              </a:rPr>
              <a:t>Srijani Dutta (516)</a:t>
            </a:r>
            <a:endParaRPr sz="1800">
              <a:solidFill>
                <a:schemeClr val="dk2"/>
              </a:solidFill>
              <a:latin typeface="Times New Roman"/>
              <a:ea typeface="Times New Roman"/>
              <a:cs typeface="Times New Roman"/>
              <a:sym typeface="Times New Roman"/>
            </a:endParaRPr>
          </a:p>
          <a:p>
            <a:pPr marL="0" lvl="0" indent="0" algn="ctr" rtl="0">
              <a:spcBef>
                <a:spcPts val="0"/>
              </a:spcBef>
              <a:spcAft>
                <a:spcPts val="0"/>
              </a:spcAft>
              <a:buNone/>
            </a:pPr>
            <a:r>
              <a:rPr lang="en-GB" sz="1800">
                <a:solidFill>
                  <a:schemeClr val="dk2"/>
                </a:solidFill>
                <a:latin typeface="Times New Roman"/>
                <a:ea typeface="Times New Roman"/>
                <a:cs typeface="Times New Roman"/>
                <a:sym typeface="Times New Roman"/>
              </a:rPr>
              <a:t>Pameli Sensharma (536)</a:t>
            </a:r>
            <a:endParaRPr sz="1800">
              <a:solidFill>
                <a:schemeClr val="dk2"/>
              </a:solidFill>
              <a:latin typeface="Times New Roman"/>
              <a:ea typeface="Times New Roman"/>
              <a:cs typeface="Times New Roman"/>
              <a:sym typeface="Times New Roman"/>
            </a:endParaRPr>
          </a:p>
          <a:p>
            <a:pPr marL="0" lvl="0" indent="0" algn="ctr" rtl="0">
              <a:spcBef>
                <a:spcPts val="0"/>
              </a:spcBef>
              <a:spcAft>
                <a:spcPts val="0"/>
              </a:spcAft>
              <a:buNone/>
            </a:pPr>
            <a:endParaRPr sz="1800">
              <a:solidFill>
                <a:schemeClr val="dk2"/>
              </a:solidFill>
              <a:latin typeface="Times New Roman"/>
              <a:ea typeface="Times New Roman"/>
              <a:cs typeface="Times New Roman"/>
              <a:sym typeface="Times New Roman"/>
            </a:endParaRPr>
          </a:p>
          <a:p>
            <a:pPr marL="0" lvl="0" indent="0" algn="ctr" rtl="0">
              <a:spcBef>
                <a:spcPts val="0"/>
              </a:spcBef>
              <a:spcAft>
                <a:spcPts val="0"/>
              </a:spcAft>
              <a:buNone/>
            </a:pPr>
            <a:r>
              <a:rPr lang="en-GB" sz="1800">
                <a:solidFill>
                  <a:schemeClr val="dk2"/>
                </a:solidFill>
                <a:latin typeface="Times New Roman"/>
                <a:ea typeface="Times New Roman"/>
                <a:cs typeface="Times New Roman"/>
                <a:sym typeface="Times New Roman"/>
              </a:rPr>
              <a:t>Supervisor: Prof. Debabrata Datta </a:t>
            </a:r>
            <a:endParaRPr sz="1800">
              <a:solidFill>
                <a:schemeClr val="dk2"/>
              </a:solidFill>
              <a:latin typeface="Times New Roman"/>
              <a:ea typeface="Times New Roman"/>
              <a:cs typeface="Times New Roman"/>
              <a:sym typeface="Times New Roman"/>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59"/>
        <p:cNvGrpSpPr/>
        <p:nvPr/>
      </p:nvGrpSpPr>
      <p:grpSpPr>
        <a:xfrm>
          <a:off x="0" y="0"/>
          <a:ext cx="0" cy="0"/>
          <a:chOff x="0" y="0"/>
          <a:chExt cx="0" cy="0"/>
        </a:xfrm>
      </p:grpSpPr>
      <p:sp>
        <p:nvSpPr>
          <p:cNvPr id="60" name="Google Shape;60;p14"/>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GB">
                <a:latin typeface="Times New Roman"/>
                <a:ea typeface="Times New Roman"/>
                <a:cs typeface="Times New Roman"/>
                <a:sym typeface="Times New Roman"/>
              </a:rPr>
              <a:t>Objectives</a:t>
            </a:r>
            <a:endParaRPr>
              <a:latin typeface="Times New Roman"/>
              <a:ea typeface="Times New Roman"/>
              <a:cs typeface="Times New Roman"/>
              <a:sym typeface="Times New Roman"/>
            </a:endParaRPr>
          </a:p>
        </p:txBody>
      </p:sp>
      <p:sp>
        <p:nvSpPr>
          <p:cNvPr id="61" name="Google Shape;61;p14"/>
          <p:cNvSpPr txBox="1">
            <a:spLocks noGrp="1"/>
          </p:cNvSpPr>
          <p:nvPr>
            <p:ph type="body" idx="1"/>
          </p:nvPr>
        </p:nvSpPr>
        <p:spPr>
          <a:xfrm>
            <a:off x="311700" y="1152475"/>
            <a:ext cx="8520600" cy="3416400"/>
          </a:xfrm>
          <a:prstGeom prst="rect">
            <a:avLst/>
          </a:prstGeom>
          <a:ln w="9525" cap="flat" cmpd="sng">
            <a:solidFill>
              <a:schemeClr val="lt2"/>
            </a:solidFill>
            <a:prstDash val="solid"/>
            <a:round/>
            <a:headEnd type="none" w="sm" len="sm"/>
            <a:tailEnd type="none" w="sm" len="sm"/>
          </a:ln>
        </p:spPr>
        <p:txBody>
          <a:bodyPr spcFirstLastPara="1" wrap="square" lIns="91425" tIns="91425" rIns="91425" bIns="91425" anchor="t" anchorCtr="0">
            <a:noAutofit/>
          </a:bodyPr>
          <a:lstStyle/>
          <a:p>
            <a:pPr marL="0" lvl="0" indent="0" algn="l" rtl="0">
              <a:spcBef>
                <a:spcPts val="500"/>
              </a:spcBef>
              <a:spcAft>
                <a:spcPts val="0"/>
              </a:spcAft>
              <a:buNone/>
            </a:pPr>
            <a:r>
              <a:rPr lang="en-GB" sz="1400">
                <a:solidFill>
                  <a:schemeClr val="dk1"/>
                </a:solidFill>
                <a:latin typeface="Times New Roman"/>
                <a:ea typeface="Times New Roman"/>
                <a:cs typeface="Times New Roman"/>
                <a:sym typeface="Times New Roman"/>
              </a:rPr>
              <a:t>•To automate the resume screening process and reduce manual effort in recruitment.</a:t>
            </a:r>
            <a:endParaRPr sz="1400">
              <a:solidFill>
                <a:schemeClr val="dk1"/>
              </a:solidFill>
              <a:latin typeface="Times New Roman"/>
              <a:ea typeface="Times New Roman"/>
              <a:cs typeface="Times New Roman"/>
              <a:sym typeface="Times New Roman"/>
            </a:endParaRPr>
          </a:p>
          <a:p>
            <a:pPr marL="0" lvl="0" indent="0" algn="l" rtl="0">
              <a:spcBef>
                <a:spcPts val="500"/>
              </a:spcBef>
              <a:spcAft>
                <a:spcPts val="0"/>
              </a:spcAft>
              <a:buNone/>
            </a:pPr>
            <a:r>
              <a:rPr lang="en-GB" sz="1400">
                <a:solidFill>
                  <a:schemeClr val="dk1"/>
                </a:solidFill>
                <a:latin typeface="Times New Roman"/>
                <a:ea typeface="Times New Roman"/>
                <a:cs typeface="Times New Roman"/>
                <a:sym typeface="Times New Roman"/>
              </a:rPr>
              <a:t>•To analyze resume content using Natural Language Processing (NLP).</a:t>
            </a:r>
            <a:endParaRPr sz="1400">
              <a:solidFill>
                <a:schemeClr val="dk1"/>
              </a:solidFill>
              <a:latin typeface="Times New Roman"/>
              <a:ea typeface="Times New Roman"/>
              <a:cs typeface="Times New Roman"/>
              <a:sym typeface="Times New Roman"/>
            </a:endParaRPr>
          </a:p>
          <a:p>
            <a:pPr marL="0" lvl="0" indent="0" algn="l" rtl="0">
              <a:spcBef>
                <a:spcPts val="500"/>
              </a:spcBef>
              <a:spcAft>
                <a:spcPts val="0"/>
              </a:spcAft>
              <a:buNone/>
            </a:pPr>
            <a:r>
              <a:rPr lang="en-GB" sz="1400">
                <a:solidFill>
                  <a:schemeClr val="dk1"/>
                </a:solidFill>
                <a:latin typeface="Times New Roman"/>
                <a:ea typeface="Times New Roman"/>
                <a:cs typeface="Times New Roman"/>
                <a:sym typeface="Times New Roman"/>
              </a:rPr>
              <a:t>•To classify resumes into job categories based on skills, education, and experience.</a:t>
            </a:r>
            <a:endParaRPr sz="1400">
              <a:solidFill>
                <a:schemeClr val="dk1"/>
              </a:solidFill>
              <a:latin typeface="Times New Roman"/>
              <a:ea typeface="Times New Roman"/>
              <a:cs typeface="Times New Roman"/>
              <a:sym typeface="Times New Roman"/>
            </a:endParaRPr>
          </a:p>
          <a:p>
            <a:pPr marL="0" lvl="0" indent="0" algn="l" rtl="0">
              <a:spcBef>
                <a:spcPts val="500"/>
              </a:spcBef>
              <a:spcAft>
                <a:spcPts val="0"/>
              </a:spcAft>
              <a:buNone/>
            </a:pPr>
            <a:r>
              <a:rPr lang="en-GB" sz="1400">
                <a:solidFill>
                  <a:schemeClr val="dk1"/>
                </a:solidFill>
                <a:latin typeface="Times New Roman"/>
                <a:ea typeface="Times New Roman"/>
                <a:cs typeface="Times New Roman"/>
                <a:sym typeface="Times New Roman"/>
              </a:rPr>
              <a:t>•To improve accuracy and consistency in candidate shortlisting.</a:t>
            </a:r>
            <a:endParaRPr sz="1400">
              <a:solidFill>
                <a:schemeClr val="dk1"/>
              </a:solidFill>
              <a:latin typeface="Times New Roman"/>
              <a:ea typeface="Times New Roman"/>
              <a:cs typeface="Times New Roman"/>
              <a:sym typeface="Times New Roman"/>
            </a:endParaRPr>
          </a:p>
          <a:p>
            <a:pPr marL="0" lvl="0" indent="0" algn="l" rtl="0">
              <a:spcBef>
                <a:spcPts val="500"/>
              </a:spcBef>
              <a:spcAft>
                <a:spcPts val="0"/>
              </a:spcAft>
              <a:buNone/>
            </a:pPr>
            <a:r>
              <a:rPr lang="en-GB" sz="1400">
                <a:solidFill>
                  <a:schemeClr val="dk1"/>
                </a:solidFill>
                <a:latin typeface="Times New Roman"/>
                <a:ea typeface="Times New Roman"/>
                <a:cs typeface="Times New Roman"/>
                <a:sym typeface="Times New Roman"/>
              </a:rPr>
              <a:t>•To reduce recruitment time by quickly filtering large numbers of resumes.</a:t>
            </a:r>
            <a:endParaRPr sz="1400">
              <a:solidFill>
                <a:schemeClr val="dk1"/>
              </a:solidFill>
              <a:latin typeface="Times New Roman"/>
              <a:ea typeface="Times New Roman"/>
              <a:cs typeface="Times New Roman"/>
              <a:sym typeface="Times New Roman"/>
            </a:endParaRPr>
          </a:p>
          <a:p>
            <a:pPr marL="0" lvl="0" indent="0" algn="l" rtl="0">
              <a:spcBef>
                <a:spcPts val="500"/>
              </a:spcBef>
              <a:spcAft>
                <a:spcPts val="0"/>
              </a:spcAft>
              <a:buNone/>
            </a:pPr>
            <a:r>
              <a:rPr lang="en-GB" sz="1400">
                <a:solidFill>
                  <a:schemeClr val="dk1"/>
                </a:solidFill>
                <a:latin typeface="Times New Roman"/>
                <a:ea typeface="Times New Roman"/>
                <a:cs typeface="Times New Roman"/>
                <a:sym typeface="Times New Roman"/>
              </a:rPr>
              <a:t>•To identify the most suitable candidates for specific job roles.</a:t>
            </a:r>
            <a:endParaRPr sz="1400">
              <a:solidFill>
                <a:schemeClr val="dk1"/>
              </a:solidFill>
              <a:latin typeface="Times New Roman"/>
              <a:ea typeface="Times New Roman"/>
              <a:cs typeface="Times New Roman"/>
              <a:sym typeface="Times New Roman"/>
            </a:endParaRPr>
          </a:p>
          <a:p>
            <a:pPr marL="0" lvl="0" indent="0" algn="l" rtl="0">
              <a:spcBef>
                <a:spcPts val="500"/>
              </a:spcBef>
              <a:spcAft>
                <a:spcPts val="0"/>
              </a:spcAft>
              <a:buNone/>
            </a:pPr>
            <a:r>
              <a:rPr lang="en-GB" sz="1400">
                <a:solidFill>
                  <a:schemeClr val="dk1"/>
                </a:solidFill>
                <a:latin typeface="Times New Roman"/>
                <a:ea typeface="Times New Roman"/>
                <a:cs typeface="Times New Roman"/>
                <a:sym typeface="Times New Roman"/>
              </a:rPr>
              <a:t>•To evaluate model performance using metrics such as Accuracy, Precision, Recall, F1-score, and Cross-Validation Accuracy.</a:t>
            </a:r>
            <a:endParaRPr sz="1400">
              <a:solidFill>
                <a:schemeClr val="dk1"/>
              </a:solidFill>
              <a:latin typeface="Times New Roman"/>
              <a:ea typeface="Times New Roman"/>
              <a:cs typeface="Times New Roman"/>
              <a:sym typeface="Times New Roman"/>
            </a:endParaRPr>
          </a:p>
          <a:p>
            <a:pPr marL="0" lvl="0" indent="0" algn="l" rtl="0">
              <a:spcBef>
                <a:spcPts val="500"/>
              </a:spcBef>
              <a:spcAft>
                <a:spcPts val="0"/>
              </a:spcAft>
              <a:buNone/>
            </a:pPr>
            <a:r>
              <a:rPr lang="en-GB" sz="1400">
                <a:solidFill>
                  <a:schemeClr val="dk1"/>
                </a:solidFill>
                <a:latin typeface="Times New Roman"/>
                <a:ea typeface="Times New Roman"/>
                <a:cs typeface="Times New Roman"/>
                <a:sym typeface="Times New Roman"/>
              </a:rPr>
              <a:t>•To support better hiring decisions through data-driven screening.</a:t>
            </a:r>
            <a:endParaRPr sz="1400">
              <a:solidFill>
                <a:schemeClr val="dk1"/>
              </a:solidFill>
              <a:latin typeface="Times New Roman"/>
              <a:ea typeface="Times New Roman"/>
              <a:cs typeface="Times New Roman"/>
              <a:sym typeface="Times New Roman"/>
            </a:endParaRPr>
          </a:p>
          <a:p>
            <a:pPr marL="12700" lvl="0" indent="0" algn="l" rtl="0">
              <a:spcBef>
                <a:spcPts val="600"/>
              </a:spcBef>
              <a:spcAft>
                <a:spcPts val="0"/>
              </a:spcAft>
              <a:buNone/>
            </a:pPr>
            <a:endParaRPr sz="1400">
              <a:solidFill>
                <a:schemeClr val="dk1"/>
              </a:solidFill>
              <a:latin typeface="Times New Roman"/>
              <a:ea typeface="Times New Roman"/>
              <a:cs typeface="Times New Roman"/>
              <a:sym typeface="Times New Roman"/>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65"/>
        <p:cNvGrpSpPr/>
        <p:nvPr/>
      </p:nvGrpSpPr>
      <p:grpSpPr>
        <a:xfrm>
          <a:off x="0" y="0"/>
          <a:ext cx="0" cy="0"/>
          <a:chOff x="0" y="0"/>
          <a:chExt cx="0" cy="0"/>
        </a:xfrm>
      </p:grpSpPr>
      <p:sp>
        <p:nvSpPr>
          <p:cNvPr id="66" name="Google Shape;66;p15"/>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GB">
                <a:latin typeface="Times New Roman"/>
                <a:ea typeface="Times New Roman"/>
                <a:cs typeface="Times New Roman"/>
                <a:sym typeface="Times New Roman"/>
              </a:rPr>
              <a:t>Problem Statement</a:t>
            </a:r>
            <a:endParaRPr>
              <a:latin typeface="Times New Roman"/>
              <a:ea typeface="Times New Roman"/>
              <a:cs typeface="Times New Roman"/>
              <a:sym typeface="Times New Roman"/>
            </a:endParaRPr>
          </a:p>
        </p:txBody>
      </p:sp>
      <p:sp>
        <p:nvSpPr>
          <p:cNvPr id="67" name="Google Shape;67;p15"/>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p>
            <a:pPr marL="12700" lvl="0" indent="0" algn="l" rtl="0">
              <a:spcBef>
                <a:spcPts val="600"/>
              </a:spcBef>
              <a:spcAft>
                <a:spcPts val="0"/>
              </a:spcAft>
              <a:buClr>
                <a:schemeClr val="dk1"/>
              </a:buClr>
              <a:buSzPts val="1100"/>
              <a:buFont typeface="Arial"/>
              <a:buNone/>
            </a:pPr>
            <a:r>
              <a:rPr lang="en-GB" sz="1600">
                <a:solidFill>
                  <a:schemeClr val="dk1"/>
                </a:solidFill>
                <a:latin typeface="Times New Roman"/>
                <a:ea typeface="Times New Roman"/>
                <a:cs typeface="Times New Roman"/>
                <a:sym typeface="Times New Roman"/>
              </a:rPr>
              <a:t>•Reduces manual effort in screening resumes.</a:t>
            </a:r>
            <a:endParaRPr sz="1600">
              <a:solidFill>
                <a:schemeClr val="dk1"/>
              </a:solidFill>
              <a:latin typeface="Times New Roman"/>
              <a:ea typeface="Times New Roman"/>
              <a:cs typeface="Times New Roman"/>
              <a:sym typeface="Times New Roman"/>
            </a:endParaRPr>
          </a:p>
          <a:p>
            <a:pPr marL="12700" lvl="0" indent="0" algn="l" rtl="0">
              <a:spcBef>
                <a:spcPts val="600"/>
              </a:spcBef>
              <a:spcAft>
                <a:spcPts val="0"/>
              </a:spcAft>
              <a:buClr>
                <a:schemeClr val="dk1"/>
              </a:buClr>
              <a:buSzPts val="1100"/>
              <a:buFont typeface="Arial"/>
              <a:buNone/>
            </a:pPr>
            <a:r>
              <a:rPr lang="en-GB" sz="1600">
                <a:solidFill>
                  <a:schemeClr val="dk1"/>
                </a:solidFill>
                <a:latin typeface="Times New Roman"/>
                <a:ea typeface="Times New Roman"/>
                <a:cs typeface="Times New Roman"/>
                <a:sym typeface="Times New Roman"/>
              </a:rPr>
              <a:t>•Saves time during recruitment.</a:t>
            </a:r>
            <a:endParaRPr sz="1600">
              <a:solidFill>
                <a:schemeClr val="dk1"/>
              </a:solidFill>
              <a:latin typeface="Times New Roman"/>
              <a:ea typeface="Times New Roman"/>
              <a:cs typeface="Times New Roman"/>
              <a:sym typeface="Times New Roman"/>
            </a:endParaRPr>
          </a:p>
          <a:p>
            <a:pPr marL="12700" lvl="0" indent="0" algn="l" rtl="0">
              <a:spcBef>
                <a:spcPts val="600"/>
              </a:spcBef>
              <a:spcAft>
                <a:spcPts val="0"/>
              </a:spcAft>
              <a:buClr>
                <a:schemeClr val="dk1"/>
              </a:buClr>
              <a:buSzPts val="1100"/>
              <a:buFont typeface="Arial"/>
              <a:buNone/>
            </a:pPr>
            <a:r>
              <a:rPr lang="en-GB" sz="1600">
                <a:solidFill>
                  <a:schemeClr val="dk1"/>
                </a:solidFill>
                <a:latin typeface="Times New Roman"/>
                <a:ea typeface="Times New Roman"/>
                <a:cs typeface="Times New Roman"/>
                <a:sym typeface="Times New Roman"/>
              </a:rPr>
              <a:t>•Handles large volumes of resumes efficiently.</a:t>
            </a:r>
            <a:endParaRPr sz="1600">
              <a:solidFill>
                <a:schemeClr val="dk1"/>
              </a:solidFill>
              <a:latin typeface="Times New Roman"/>
              <a:ea typeface="Times New Roman"/>
              <a:cs typeface="Times New Roman"/>
              <a:sym typeface="Times New Roman"/>
            </a:endParaRPr>
          </a:p>
          <a:p>
            <a:pPr marL="12700" lvl="0" indent="0" algn="l" rtl="0">
              <a:spcBef>
                <a:spcPts val="600"/>
              </a:spcBef>
              <a:spcAft>
                <a:spcPts val="0"/>
              </a:spcAft>
              <a:buClr>
                <a:schemeClr val="dk1"/>
              </a:buClr>
              <a:buSzPts val="1100"/>
              <a:buFont typeface="Arial"/>
              <a:buNone/>
            </a:pPr>
            <a:r>
              <a:rPr lang="en-GB" sz="1600">
                <a:solidFill>
                  <a:schemeClr val="dk1"/>
                </a:solidFill>
                <a:latin typeface="Times New Roman"/>
                <a:ea typeface="Times New Roman"/>
                <a:cs typeface="Times New Roman"/>
                <a:sym typeface="Times New Roman"/>
              </a:rPr>
              <a:t>•Improves consistency in candidate selection.</a:t>
            </a:r>
            <a:endParaRPr sz="1600">
              <a:solidFill>
                <a:schemeClr val="dk1"/>
              </a:solidFill>
              <a:latin typeface="Times New Roman"/>
              <a:ea typeface="Times New Roman"/>
              <a:cs typeface="Times New Roman"/>
              <a:sym typeface="Times New Roman"/>
            </a:endParaRPr>
          </a:p>
          <a:p>
            <a:pPr marL="12700" lvl="0" indent="0" algn="l" rtl="0">
              <a:spcBef>
                <a:spcPts val="600"/>
              </a:spcBef>
              <a:spcAft>
                <a:spcPts val="0"/>
              </a:spcAft>
              <a:buClr>
                <a:schemeClr val="dk1"/>
              </a:buClr>
              <a:buSzPts val="1100"/>
              <a:buFont typeface="Arial"/>
              <a:buNone/>
            </a:pPr>
            <a:r>
              <a:rPr lang="en-GB" sz="1600">
                <a:solidFill>
                  <a:schemeClr val="dk1"/>
                </a:solidFill>
                <a:latin typeface="Times New Roman"/>
                <a:ea typeface="Times New Roman"/>
                <a:cs typeface="Times New Roman"/>
                <a:sym typeface="Times New Roman"/>
              </a:rPr>
              <a:t>•Minimizes chances of missing qualified candidates.</a:t>
            </a:r>
            <a:endParaRPr sz="1600">
              <a:solidFill>
                <a:schemeClr val="dk1"/>
              </a:solidFill>
              <a:latin typeface="Times New Roman"/>
              <a:ea typeface="Times New Roman"/>
              <a:cs typeface="Times New Roman"/>
              <a:sym typeface="Times New Roman"/>
            </a:endParaRPr>
          </a:p>
          <a:p>
            <a:pPr marL="12700" lvl="0" indent="0" algn="l" rtl="0">
              <a:spcBef>
                <a:spcPts val="600"/>
              </a:spcBef>
              <a:spcAft>
                <a:spcPts val="0"/>
              </a:spcAft>
              <a:buClr>
                <a:schemeClr val="dk1"/>
              </a:buClr>
              <a:buSzPts val="1100"/>
              <a:buFont typeface="Arial"/>
              <a:buNone/>
            </a:pPr>
            <a:r>
              <a:rPr lang="en-GB" sz="1600">
                <a:solidFill>
                  <a:schemeClr val="dk1"/>
                </a:solidFill>
                <a:latin typeface="Times New Roman"/>
                <a:ea typeface="Times New Roman"/>
                <a:cs typeface="Times New Roman"/>
                <a:sym typeface="Times New Roman"/>
              </a:rPr>
              <a:t>•Supports faster and smarter hiring decisions.</a:t>
            </a:r>
            <a:endParaRPr sz="1600">
              <a:solidFill>
                <a:schemeClr val="dk1"/>
              </a:solidFill>
              <a:latin typeface="Times New Roman"/>
              <a:ea typeface="Times New Roman"/>
              <a:cs typeface="Times New Roman"/>
              <a:sym typeface="Times New Roman"/>
            </a:endParaRPr>
          </a:p>
          <a:p>
            <a:pPr marL="12700" lvl="0" indent="0" algn="l" rtl="0">
              <a:spcBef>
                <a:spcPts val="600"/>
              </a:spcBef>
              <a:spcAft>
                <a:spcPts val="0"/>
              </a:spcAft>
              <a:buClr>
                <a:schemeClr val="dk1"/>
              </a:buClr>
              <a:buSzPts val="1100"/>
              <a:buFont typeface="Arial"/>
              <a:buNone/>
            </a:pPr>
            <a:r>
              <a:rPr lang="en-GB" sz="1600">
                <a:solidFill>
                  <a:schemeClr val="dk1"/>
                </a:solidFill>
                <a:latin typeface="Times New Roman"/>
                <a:ea typeface="Times New Roman"/>
                <a:cs typeface="Times New Roman"/>
                <a:sym typeface="Times New Roman"/>
              </a:rPr>
              <a:t>•Handles human bias and inconsistency</a:t>
            </a:r>
            <a:endParaRPr sz="1600">
              <a:solidFill>
                <a:schemeClr val="dk1"/>
              </a:solidFill>
              <a:latin typeface="Times New Roman"/>
              <a:ea typeface="Times New Roman"/>
              <a:cs typeface="Times New Roman"/>
              <a:sym typeface="Times New Roman"/>
            </a:endParaRPr>
          </a:p>
          <a:p>
            <a:pPr marL="12700" lvl="0" indent="0" algn="l" rtl="0">
              <a:spcBef>
                <a:spcPts val="600"/>
              </a:spcBef>
              <a:spcAft>
                <a:spcPts val="0"/>
              </a:spcAft>
              <a:buNone/>
            </a:pPr>
            <a:endParaRPr sz="1600">
              <a:latin typeface="Times New Roman"/>
              <a:ea typeface="Times New Roman"/>
              <a:cs typeface="Times New Roman"/>
              <a:sym typeface="Times New Roman"/>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71"/>
        <p:cNvGrpSpPr/>
        <p:nvPr/>
      </p:nvGrpSpPr>
      <p:grpSpPr>
        <a:xfrm>
          <a:off x="0" y="0"/>
          <a:ext cx="0" cy="0"/>
          <a:chOff x="0" y="0"/>
          <a:chExt cx="0" cy="0"/>
        </a:xfrm>
      </p:grpSpPr>
      <p:sp>
        <p:nvSpPr>
          <p:cNvPr id="72" name="Google Shape;72;p16"/>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GB">
                <a:latin typeface="Times New Roman"/>
                <a:ea typeface="Times New Roman"/>
                <a:cs typeface="Times New Roman"/>
                <a:sym typeface="Times New Roman"/>
              </a:rPr>
              <a:t>Proposed Solution</a:t>
            </a:r>
            <a:endParaRPr>
              <a:latin typeface="Times New Roman"/>
              <a:ea typeface="Times New Roman"/>
              <a:cs typeface="Times New Roman"/>
              <a:sym typeface="Times New Roman"/>
            </a:endParaRPr>
          </a:p>
        </p:txBody>
      </p:sp>
      <p:sp>
        <p:nvSpPr>
          <p:cNvPr id="73" name="Google Shape;73;p16"/>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p>
            <a:pPr marL="0" lvl="0" indent="0" algn="l" rtl="0">
              <a:spcBef>
                <a:spcPts val="700"/>
              </a:spcBef>
              <a:spcAft>
                <a:spcPts val="0"/>
              </a:spcAft>
              <a:buClr>
                <a:schemeClr val="dk1"/>
              </a:buClr>
              <a:buSzPts val="1100"/>
              <a:buFont typeface="Arial"/>
              <a:buNone/>
            </a:pPr>
            <a:r>
              <a:rPr lang="en-GB" sz="1600">
                <a:solidFill>
                  <a:schemeClr val="dk1"/>
                </a:solidFill>
                <a:latin typeface="Times New Roman"/>
                <a:ea typeface="Times New Roman"/>
                <a:cs typeface="Times New Roman"/>
                <a:sym typeface="Times New Roman"/>
              </a:rPr>
              <a:t>Resume → NLP Processing → ML Model → Prediction and Ranking</a:t>
            </a:r>
            <a:endParaRPr sz="1600">
              <a:solidFill>
                <a:schemeClr val="dk1"/>
              </a:solidFill>
              <a:latin typeface="Times New Roman"/>
              <a:ea typeface="Times New Roman"/>
              <a:cs typeface="Times New Roman"/>
              <a:sym typeface="Times New Roman"/>
            </a:endParaRPr>
          </a:p>
          <a:p>
            <a:pPr marL="0" lvl="0" indent="0" algn="l" rtl="0">
              <a:spcBef>
                <a:spcPts val="700"/>
              </a:spcBef>
              <a:spcAft>
                <a:spcPts val="0"/>
              </a:spcAft>
              <a:buClr>
                <a:schemeClr val="dk1"/>
              </a:buClr>
              <a:buSzPts val="1100"/>
              <a:buFont typeface="Arial"/>
              <a:buNone/>
            </a:pPr>
            <a:r>
              <a:rPr lang="en-GB" sz="1600">
                <a:solidFill>
                  <a:schemeClr val="dk1"/>
                </a:solidFill>
                <a:latin typeface="Times New Roman"/>
                <a:ea typeface="Times New Roman"/>
                <a:cs typeface="Times New Roman"/>
                <a:sym typeface="Times New Roman"/>
              </a:rPr>
              <a:t>•Replace manual checking and implement intelligent automated classification system</a:t>
            </a:r>
            <a:endParaRPr sz="1600">
              <a:solidFill>
                <a:schemeClr val="dk1"/>
              </a:solidFill>
              <a:latin typeface="Times New Roman"/>
              <a:ea typeface="Times New Roman"/>
              <a:cs typeface="Times New Roman"/>
              <a:sym typeface="Times New Roman"/>
            </a:endParaRPr>
          </a:p>
          <a:p>
            <a:pPr marL="0" lvl="0" indent="0" algn="l" rtl="0">
              <a:spcBef>
                <a:spcPts val="700"/>
              </a:spcBef>
              <a:spcAft>
                <a:spcPts val="0"/>
              </a:spcAft>
              <a:buClr>
                <a:schemeClr val="dk1"/>
              </a:buClr>
              <a:buSzPts val="1100"/>
              <a:buFont typeface="Arial"/>
              <a:buNone/>
            </a:pPr>
            <a:r>
              <a:rPr lang="en-GB" sz="1600">
                <a:solidFill>
                  <a:schemeClr val="dk1"/>
                </a:solidFill>
                <a:latin typeface="Times New Roman"/>
                <a:ea typeface="Times New Roman"/>
                <a:cs typeface="Times New Roman"/>
                <a:sym typeface="Times New Roman"/>
              </a:rPr>
              <a:t>•Use NLP for Text Analysis</a:t>
            </a:r>
            <a:endParaRPr sz="1600">
              <a:solidFill>
                <a:schemeClr val="dk1"/>
              </a:solidFill>
              <a:latin typeface="Times New Roman"/>
              <a:ea typeface="Times New Roman"/>
              <a:cs typeface="Times New Roman"/>
              <a:sym typeface="Times New Roman"/>
            </a:endParaRPr>
          </a:p>
          <a:p>
            <a:pPr marL="0" lvl="0" indent="0" algn="l" rtl="0">
              <a:spcBef>
                <a:spcPts val="700"/>
              </a:spcBef>
              <a:spcAft>
                <a:spcPts val="0"/>
              </a:spcAft>
              <a:buClr>
                <a:schemeClr val="dk1"/>
              </a:buClr>
              <a:buSzPts val="1100"/>
              <a:buFont typeface="Arial"/>
              <a:buNone/>
            </a:pPr>
            <a:r>
              <a:rPr lang="en-GB" sz="1600">
                <a:solidFill>
                  <a:schemeClr val="dk1"/>
                </a:solidFill>
                <a:latin typeface="Times New Roman"/>
                <a:ea typeface="Times New Roman"/>
                <a:cs typeface="Times New Roman"/>
                <a:sym typeface="Times New Roman"/>
              </a:rPr>
              <a:t>•Apply Machine Learning Classification</a:t>
            </a:r>
            <a:endParaRPr sz="1600">
              <a:solidFill>
                <a:schemeClr val="dk1"/>
              </a:solidFill>
              <a:latin typeface="Times New Roman"/>
              <a:ea typeface="Times New Roman"/>
              <a:cs typeface="Times New Roman"/>
              <a:sym typeface="Times New Roman"/>
            </a:endParaRPr>
          </a:p>
          <a:p>
            <a:pPr marL="0" lvl="0" indent="0" algn="l" rtl="0">
              <a:spcBef>
                <a:spcPts val="700"/>
              </a:spcBef>
              <a:spcAft>
                <a:spcPts val="0"/>
              </a:spcAft>
              <a:buClr>
                <a:schemeClr val="dk1"/>
              </a:buClr>
              <a:buSzPts val="1100"/>
              <a:buFont typeface="Arial"/>
              <a:buNone/>
            </a:pPr>
            <a:r>
              <a:rPr lang="en-GB" sz="1600">
                <a:solidFill>
                  <a:schemeClr val="dk1"/>
                </a:solidFill>
                <a:latin typeface="Times New Roman"/>
                <a:ea typeface="Times New Roman"/>
                <a:cs typeface="Times New Roman"/>
                <a:sym typeface="Times New Roman"/>
              </a:rPr>
              <a:t>•Use data-driven decisions to reduce human errors and maintain fair screening.</a:t>
            </a:r>
            <a:endParaRPr sz="1600">
              <a:solidFill>
                <a:schemeClr val="dk1"/>
              </a:solidFill>
              <a:latin typeface="Times New Roman"/>
              <a:ea typeface="Times New Roman"/>
              <a:cs typeface="Times New Roman"/>
              <a:sym typeface="Times New Roman"/>
            </a:endParaRPr>
          </a:p>
          <a:p>
            <a:pPr marL="0" lvl="0" indent="0" algn="l" rtl="0">
              <a:spcBef>
                <a:spcPts val="700"/>
              </a:spcBef>
              <a:spcAft>
                <a:spcPts val="0"/>
              </a:spcAft>
              <a:buClr>
                <a:schemeClr val="dk1"/>
              </a:buClr>
              <a:buSzPts val="1100"/>
              <a:buFont typeface="Arial"/>
              <a:buNone/>
            </a:pPr>
            <a:r>
              <a:rPr lang="en-GB" sz="1600">
                <a:solidFill>
                  <a:schemeClr val="dk1"/>
                </a:solidFill>
                <a:latin typeface="Times New Roman"/>
                <a:ea typeface="Times New Roman"/>
                <a:cs typeface="Times New Roman"/>
                <a:sym typeface="Times New Roman"/>
              </a:rPr>
              <a:t>•Improve Accuracy and Consistency</a:t>
            </a:r>
            <a:endParaRPr sz="1600">
              <a:solidFill>
                <a:schemeClr val="dk1"/>
              </a:solidFill>
              <a:latin typeface="Times New Roman"/>
              <a:ea typeface="Times New Roman"/>
              <a:cs typeface="Times New Roman"/>
              <a:sym typeface="Times New Roman"/>
            </a:endParaRPr>
          </a:p>
          <a:p>
            <a:pPr marL="0" lvl="0" indent="0" algn="l" rtl="0">
              <a:spcBef>
                <a:spcPts val="700"/>
              </a:spcBef>
              <a:spcAft>
                <a:spcPts val="0"/>
              </a:spcAft>
              <a:buClr>
                <a:schemeClr val="dk1"/>
              </a:buClr>
              <a:buSzPts val="1100"/>
              <a:buFont typeface="Arial"/>
              <a:buNone/>
            </a:pPr>
            <a:r>
              <a:rPr lang="en-GB" sz="1600">
                <a:solidFill>
                  <a:schemeClr val="dk1"/>
                </a:solidFill>
                <a:latin typeface="Times New Roman"/>
                <a:ea typeface="Times New Roman"/>
                <a:cs typeface="Times New Roman"/>
                <a:sym typeface="Times New Roman"/>
              </a:rPr>
              <a:t>•Performance Monitoring</a:t>
            </a:r>
            <a:endParaRPr sz="1600">
              <a:solidFill>
                <a:schemeClr val="dk1"/>
              </a:solidFill>
              <a:latin typeface="Times New Roman"/>
              <a:ea typeface="Times New Roman"/>
              <a:cs typeface="Times New Roman"/>
              <a:sym typeface="Times New Roman"/>
            </a:endParaRPr>
          </a:p>
          <a:p>
            <a:pPr marL="0" lvl="0" indent="0" algn="l" rtl="0">
              <a:spcBef>
                <a:spcPts val="0"/>
              </a:spcBef>
              <a:spcAft>
                <a:spcPts val="1200"/>
              </a:spcAft>
              <a:buNone/>
            </a:pPr>
            <a:endParaRPr sz="1600">
              <a:latin typeface="Times New Roman"/>
              <a:ea typeface="Times New Roman"/>
              <a:cs typeface="Times New Roman"/>
              <a:sym typeface="Times New Roman"/>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77"/>
        <p:cNvGrpSpPr/>
        <p:nvPr/>
      </p:nvGrpSpPr>
      <p:grpSpPr>
        <a:xfrm>
          <a:off x="0" y="0"/>
          <a:ext cx="0" cy="0"/>
          <a:chOff x="0" y="0"/>
          <a:chExt cx="0" cy="0"/>
        </a:xfrm>
      </p:grpSpPr>
      <p:sp>
        <p:nvSpPr>
          <p:cNvPr id="78" name="Google Shape;78;p17"/>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GB">
                <a:latin typeface="Times New Roman"/>
                <a:ea typeface="Times New Roman"/>
                <a:cs typeface="Times New Roman"/>
                <a:sym typeface="Times New Roman"/>
              </a:rPr>
              <a:t>Requirements Specification</a:t>
            </a:r>
            <a:endParaRPr>
              <a:latin typeface="Times New Roman"/>
              <a:ea typeface="Times New Roman"/>
              <a:cs typeface="Times New Roman"/>
              <a:sym typeface="Times New Roman"/>
            </a:endParaRPr>
          </a:p>
        </p:txBody>
      </p:sp>
      <p:sp>
        <p:nvSpPr>
          <p:cNvPr id="79" name="Google Shape;79;p17"/>
          <p:cNvSpPr txBox="1">
            <a:spLocks noGrp="1"/>
          </p:cNvSpPr>
          <p:nvPr>
            <p:ph type="body" idx="1"/>
          </p:nvPr>
        </p:nvSpPr>
        <p:spPr>
          <a:xfrm>
            <a:off x="311700" y="1152475"/>
            <a:ext cx="3999900" cy="3416400"/>
          </a:xfrm>
          <a:prstGeom prst="rect">
            <a:avLst/>
          </a:prstGeom>
        </p:spPr>
        <p:txBody>
          <a:bodyPr spcFirstLastPara="1" wrap="square" lIns="91425" tIns="91425" rIns="91425" bIns="91425" anchor="t" anchorCtr="0">
            <a:noAutofit/>
          </a:bodyPr>
          <a:lstStyle/>
          <a:p>
            <a:pPr marL="457200" lvl="0" indent="-317500" algn="l" rtl="0">
              <a:spcBef>
                <a:spcPts val="0"/>
              </a:spcBef>
              <a:spcAft>
                <a:spcPts val="0"/>
              </a:spcAft>
              <a:buSzPts val="1400"/>
              <a:buFont typeface="Times New Roman"/>
              <a:buChar char="●"/>
            </a:pPr>
            <a:r>
              <a:rPr lang="en-GB">
                <a:latin typeface="Times New Roman"/>
                <a:ea typeface="Times New Roman"/>
                <a:cs typeface="Times New Roman"/>
                <a:sym typeface="Times New Roman"/>
              </a:rPr>
              <a:t>Operating System</a:t>
            </a:r>
            <a:endParaRPr>
              <a:latin typeface="Times New Roman"/>
              <a:ea typeface="Times New Roman"/>
              <a:cs typeface="Times New Roman"/>
              <a:sym typeface="Times New Roman"/>
            </a:endParaRPr>
          </a:p>
          <a:p>
            <a:pPr marL="914400" lvl="1" indent="-317500" algn="l" rtl="0">
              <a:spcBef>
                <a:spcPts val="0"/>
              </a:spcBef>
              <a:spcAft>
                <a:spcPts val="0"/>
              </a:spcAft>
              <a:buSzPts val="1400"/>
              <a:buFont typeface="Times New Roman"/>
              <a:buChar char="○"/>
            </a:pPr>
            <a:r>
              <a:rPr lang="en-GB" sz="1400">
                <a:latin typeface="Times New Roman"/>
                <a:ea typeface="Times New Roman"/>
                <a:cs typeface="Times New Roman"/>
                <a:sym typeface="Times New Roman"/>
              </a:rPr>
              <a:t>Windows 10/11</a:t>
            </a:r>
            <a:endParaRPr sz="1400">
              <a:latin typeface="Times New Roman"/>
              <a:ea typeface="Times New Roman"/>
              <a:cs typeface="Times New Roman"/>
              <a:sym typeface="Times New Roman"/>
            </a:endParaRPr>
          </a:p>
          <a:p>
            <a:pPr marL="914400" lvl="1" indent="-317500" algn="l" rtl="0">
              <a:spcBef>
                <a:spcPts val="0"/>
              </a:spcBef>
              <a:spcAft>
                <a:spcPts val="0"/>
              </a:spcAft>
              <a:buSzPts val="1400"/>
              <a:buFont typeface="Times New Roman"/>
              <a:buChar char="○"/>
            </a:pPr>
            <a:r>
              <a:rPr lang="en-GB" sz="1400">
                <a:latin typeface="Times New Roman"/>
                <a:ea typeface="Times New Roman"/>
                <a:cs typeface="Times New Roman"/>
                <a:sym typeface="Times New Roman"/>
              </a:rPr>
              <a:t>macOS</a:t>
            </a:r>
            <a:br>
              <a:rPr lang="en-GB" sz="1400">
                <a:latin typeface="Times New Roman"/>
                <a:ea typeface="Times New Roman"/>
                <a:cs typeface="Times New Roman"/>
                <a:sym typeface="Times New Roman"/>
              </a:rPr>
            </a:br>
            <a:endParaRPr>
              <a:latin typeface="Times New Roman"/>
              <a:ea typeface="Times New Roman"/>
              <a:cs typeface="Times New Roman"/>
              <a:sym typeface="Times New Roman"/>
            </a:endParaRPr>
          </a:p>
          <a:p>
            <a:pPr marL="457200" lvl="0" indent="-317500" algn="l" rtl="0">
              <a:spcBef>
                <a:spcPts val="0"/>
              </a:spcBef>
              <a:spcAft>
                <a:spcPts val="0"/>
              </a:spcAft>
              <a:buSzPts val="1400"/>
              <a:buFont typeface="Times New Roman"/>
              <a:buChar char="●"/>
            </a:pPr>
            <a:r>
              <a:rPr lang="en-GB">
                <a:latin typeface="Times New Roman"/>
                <a:ea typeface="Times New Roman"/>
                <a:cs typeface="Times New Roman"/>
                <a:sym typeface="Times New Roman"/>
              </a:rPr>
              <a:t>Python Libraries and Frameworks:</a:t>
            </a:r>
            <a:endParaRPr>
              <a:latin typeface="Times New Roman"/>
              <a:ea typeface="Times New Roman"/>
              <a:cs typeface="Times New Roman"/>
              <a:sym typeface="Times New Roman"/>
            </a:endParaRPr>
          </a:p>
          <a:p>
            <a:pPr marL="914400" lvl="1" indent="-317500" algn="l" rtl="0">
              <a:spcBef>
                <a:spcPts val="0"/>
              </a:spcBef>
              <a:spcAft>
                <a:spcPts val="0"/>
              </a:spcAft>
              <a:buSzPts val="1400"/>
              <a:buFont typeface="Times New Roman"/>
              <a:buChar char="○"/>
            </a:pPr>
            <a:r>
              <a:rPr lang="en-GB" sz="1400">
                <a:latin typeface="Times New Roman"/>
                <a:ea typeface="Times New Roman"/>
                <a:cs typeface="Times New Roman"/>
                <a:sym typeface="Times New Roman"/>
              </a:rPr>
              <a:t>NumPy</a:t>
            </a:r>
            <a:endParaRPr sz="1400">
              <a:latin typeface="Times New Roman"/>
              <a:ea typeface="Times New Roman"/>
              <a:cs typeface="Times New Roman"/>
              <a:sym typeface="Times New Roman"/>
            </a:endParaRPr>
          </a:p>
          <a:p>
            <a:pPr marL="914400" lvl="1" indent="-317500" algn="l" rtl="0">
              <a:spcBef>
                <a:spcPts val="0"/>
              </a:spcBef>
              <a:spcAft>
                <a:spcPts val="0"/>
              </a:spcAft>
              <a:buSzPts val="1400"/>
              <a:buFont typeface="Times New Roman"/>
              <a:buChar char="○"/>
            </a:pPr>
            <a:r>
              <a:rPr lang="en-GB" sz="1400">
                <a:latin typeface="Times New Roman"/>
                <a:ea typeface="Times New Roman"/>
                <a:cs typeface="Times New Roman"/>
                <a:sym typeface="Times New Roman"/>
              </a:rPr>
              <a:t>Pandas</a:t>
            </a:r>
            <a:endParaRPr sz="1400">
              <a:latin typeface="Times New Roman"/>
              <a:ea typeface="Times New Roman"/>
              <a:cs typeface="Times New Roman"/>
              <a:sym typeface="Times New Roman"/>
            </a:endParaRPr>
          </a:p>
          <a:p>
            <a:pPr marL="914400" lvl="1" indent="-317500" algn="l" rtl="0">
              <a:spcBef>
                <a:spcPts val="0"/>
              </a:spcBef>
              <a:spcAft>
                <a:spcPts val="0"/>
              </a:spcAft>
              <a:buSzPts val="1400"/>
              <a:buFont typeface="Times New Roman"/>
              <a:buChar char="○"/>
            </a:pPr>
            <a:r>
              <a:rPr lang="en-GB" sz="1400">
                <a:latin typeface="Times New Roman"/>
                <a:ea typeface="Times New Roman"/>
                <a:cs typeface="Times New Roman"/>
                <a:sym typeface="Times New Roman"/>
              </a:rPr>
              <a:t>Matplotlib</a:t>
            </a:r>
            <a:endParaRPr sz="1400">
              <a:latin typeface="Times New Roman"/>
              <a:ea typeface="Times New Roman"/>
              <a:cs typeface="Times New Roman"/>
              <a:sym typeface="Times New Roman"/>
            </a:endParaRPr>
          </a:p>
          <a:p>
            <a:pPr marL="914400" lvl="1" indent="-317500" algn="l" rtl="0">
              <a:spcBef>
                <a:spcPts val="0"/>
              </a:spcBef>
              <a:spcAft>
                <a:spcPts val="0"/>
              </a:spcAft>
              <a:buSzPts val="1400"/>
              <a:buFont typeface="Times New Roman"/>
              <a:buChar char="○"/>
            </a:pPr>
            <a:r>
              <a:rPr lang="en-GB" sz="1400">
                <a:latin typeface="Times New Roman"/>
                <a:ea typeface="Times New Roman"/>
                <a:cs typeface="Times New Roman"/>
                <a:sym typeface="Times New Roman"/>
              </a:rPr>
              <a:t>Seaborn</a:t>
            </a:r>
            <a:endParaRPr sz="1400">
              <a:latin typeface="Times New Roman"/>
              <a:ea typeface="Times New Roman"/>
              <a:cs typeface="Times New Roman"/>
              <a:sym typeface="Times New Roman"/>
            </a:endParaRPr>
          </a:p>
          <a:p>
            <a:pPr marL="914400" lvl="1" indent="-317500" algn="l" rtl="0">
              <a:spcBef>
                <a:spcPts val="0"/>
              </a:spcBef>
              <a:spcAft>
                <a:spcPts val="0"/>
              </a:spcAft>
              <a:buSzPts val="1400"/>
              <a:buFont typeface="Times New Roman"/>
              <a:buChar char="○"/>
            </a:pPr>
            <a:r>
              <a:rPr lang="en-GB" sz="1400">
                <a:latin typeface="Times New Roman"/>
                <a:ea typeface="Times New Roman"/>
                <a:cs typeface="Times New Roman"/>
                <a:sym typeface="Times New Roman"/>
              </a:rPr>
              <a:t>scikit-learn</a:t>
            </a:r>
            <a:endParaRPr sz="1400">
              <a:latin typeface="Times New Roman"/>
              <a:ea typeface="Times New Roman"/>
              <a:cs typeface="Times New Roman"/>
              <a:sym typeface="Times New Roman"/>
            </a:endParaRPr>
          </a:p>
          <a:p>
            <a:pPr marL="914400" lvl="1" indent="-317500" algn="l" rtl="0">
              <a:spcBef>
                <a:spcPts val="0"/>
              </a:spcBef>
              <a:spcAft>
                <a:spcPts val="0"/>
              </a:spcAft>
              <a:buSzPts val="1400"/>
              <a:buFont typeface="Times New Roman"/>
              <a:buChar char="○"/>
            </a:pPr>
            <a:r>
              <a:rPr lang="en-GB" sz="1400">
                <a:latin typeface="Times New Roman"/>
                <a:ea typeface="Times New Roman"/>
                <a:cs typeface="Times New Roman"/>
                <a:sym typeface="Times New Roman"/>
              </a:rPr>
              <a:t>NLTK</a:t>
            </a:r>
            <a:endParaRPr sz="1400">
              <a:latin typeface="Times New Roman"/>
              <a:ea typeface="Times New Roman"/>
              <a:cs typeface="Times New Roman"/>
              <a:sym typeface="Times New Roman"/>
            </a:endParaRPr>
          </a:p>
          <a:p>
            <a:pPr marL="914400" lvl="1" indent="-317500" algn="l" rtl="0">
              <a:spcBef>
                <a:spcPts val="0"/>
              </a:spcBef>
              <a:spcAft>
                <a:spcPts val="0"/>
              </a:spcAft>
              <a:buSzPts val="1400"/>
              <a:buFont typeface="Times New Roman"/>
              <a:buChar char="○"/>
            </a:pPr>
            <a:r>
              <a:rPr lang="en-GB" sz="1400">
                <a:latin typeface="Times New Roman"/>
                <a:ea typeface="Times New Roman"/>
                <a:cs typeface="Times New Roman"/>
                <a:sym typeface="Times New Roman"/>
              </a:rPr>
              <a:t>re </a:t>
            </a:r>
            <a:endParaRPr sz="1400">
              <a:latin typeface="Times New Roman"/>
              <a:ea typeface="Times New Roman"/>
              <a:cs typeface="Times New Roman"/>
              <a:sym typeface="Times New Roman"/>
            </a:endParaRPr>
          </a:p>
        </p:txBody>
      </p:sp>
      <p:sp>
        <p:nvSpPr>
          <p:cNvPr id="80" name="Google Shape;80;p17"/>
          <p:cNvSpPr txBox="1">
            <a:spLocks noGrp="1"/>
          </p:cNvSpPr>
          <p:nvPr>
            <p:ph type="body" idx="2"/>
          </p:nvPr>
        </p:nvSpPr>
        <p:spPr>
          <a:xfrm>
            <a:off x="4832400" y="1152475"/>
            <a:ext cx="3999900" cy="3416400"/>
          </a:xfrm>
          <a:prstGeom prst="rect">
            <a:avLst/>
          </a:prstGeom>
        </p:spPr>
        <p:txBody>
          <a:bodyPr spcFirstLastPara="1" wrap="square" lIns="91425" tIns="91425" rIns="91425" bIns="91425" anchor="t" anchorCtr="0">
            <a:normAutofit/>
          </a:bodyPr>
          <a:lstStyle/>
          <a:p>
            <a:pPr marL="457200" lvl="0" indent="-317500" algn="l" rtl="0">
              <a:spcBef>
                <a:spcPts val="0"/>
              </a:spcBef>
              <a:spcAft>
                <a:spcPts val="0"/>
              </a:spcAft>
              <a:buSzPts val="1400"/>
              <a:buFont typeface="Times New Roman"/>
              <a:buChar char="●"/>
            </a:pPr>
            <a:r>
              <a:rPr lang="en-GB">
                <a:latin typeface="Times New Roman"/>
                <a:ea typeface="Times New Roman"/>
                <a:cs typeface="Times New Roman"/>
                <a:sym typeface="Times New Roman"/>
              </a:rPr>
              <a:t>Programming Languages</a:t>
            </a:r>
            <a:endParaRPr>
              <a:latin typeface="Times New Roman"/>
              <a:ea typeface="Times New Roman"/>
              <a:cs typeface="Times New Roman"/>
              <a:sym typeface="Times New Roman"/>
            </a:endParaRPr>
          </a:p>
          <a:p>
            <a:pPr marL="914400" lvl="1" indent="-317500" algn="l" rtl="0">
              <a:spcBef>
                <a:spcPts val="0"/>
              </a:spcBef>
              <a:spcAft>
                <a:spcPts val="0"/>
              </a:spcAft>
              <a:buSzPts val="1400"/>
              <a:buFont typeface="Times New Roman"/>
              <a:buChar char="○"/>
            </a:pPr>
            <a:r>
              <a:rPr lang="en-GB" sz="1400">
                <a:latin typeface="Times New Roman"/>
                <a:ea typeface="Times New Roman"/>
                <a:cs typeface="Times New Roman"/>
                <a:sym typeface="Times New Roman"/>
              </a:rPr>
              <a:t>Python for Machine Learning.</a:t>
            </a:r>
            <a:endParaRPr sz="1400">
              <a:latin typeface="Times New Roman"/>
              <a:ea typeface="Times New Roman"/>
              <a:cs typeface="Times New Roman"/>
              <a:sym typeface="Times New Roman"/>
            </a:endParaRPr>
          </a:p>
          <a:p>
            <a:pPr marL="914400" lvl="1" indent="-317500" algn="l" rtl="0">
              <a:spcBef>
                <a:spcPts val="0"/>
              </a:spcBef>
              <a:spcAft>
                <a:spcPts val="0"/>
              </a:spcAft>
              <a:buSzPts val="1400"/>
              <a:buFont typeface="Times New Roman"/>
              <a:buChar char="○"/>
            </a:pPr>
            <a:r>
              <a:rPr lang="en-GB" sz="1400">
                <a:latin typeface="Times New Roman"/>
                <a:ea typeface="Times New Roman"/>
                <a:cs typeface="Times New Roman"/>
                <a:sym typeface="Times New Roman"/>
              </a:rPr>
              <a:t>Frontend: HTML, CSS, JavaScript</a:t>
            </a:r>
            <a:endParaRPr sz="1400">
              <a:latin typeface="Times New Roman"/>
              <a:ea typeface="Times New Roman"/>
              <a:cs typeface="Times New Roman"/>
              <a:sym typeface="Times New Roman"/>
            </a:endParaRPr>
          </a:p>
          <a:p>
            <a:pPr marL="914400" lvl="1" indent="-317500" algn="l" rtl="0">
              <a:spcBef>
                <a:spcPts val="0"/>
              </a:spcBef>
              <a:spcAft>
                <a:spcPts val="0"/>
              </a:spcAft>
              <a:buSzPts val="1400"/>
              <a:buFont typeface="Times New Roman"/>
              <a:buChar char="○"/>
            </a:pPr>
            <a:r>
              <a:rPr lang="en-GB" sz="1400">
                <a:latin typeface="Times New Roman"/>
                <a:ea typeface="Times New Roman"/>
                <a:cs typeface="Times New Roman"/>
                <a:sym typeface="Times New Roman"/>
              </a:rPr>
              <a:t>Backend: Flask and Python</a:t>
            </a:r>
            <a:br>
              <a:rPr lang="en-GB" sz="1400">
                <a:latin typeface="Times New Roman"/>
                <a:ea typeface="Times New Roman"/>
                <a:cs typeface="Times New Roman"/>
                <a:sym typeface="Times New Roman"/>
              </a:rPr>
            </a:br>
            <a:endParaRPr sz="1400">
              <a:latin typeface="Times New Roman"/>
              <a:ea typeface="Times New Roman"/>
              <a:cs typeface="Times New Roman"/>
              <a:sym typeface="Times New Roman"/>
            </a:endParaRPr>
          </a:p>
          <a:p>
            <a:pPr marL="457200" lvl="0" indent="-317500" algn="l" rtl="0">
              <a:spcBef>
                <a:spcPts val="0"/>
              </a:spcBef>
              <a:spcAft>
                <a:spcPts val="0"/>
              </a:spcAft>
              <a:buSzPts val="1400"/>
              <a:buFont typeface="Times New Roman"/>
              <a:buChar char="●"/>
            </a:pPr>
            <a:r>
              <a:rPr lang="en-GB">
                <a:latin typeface="Times New Roman"/>
                <a:ea typeface="Times New Roman"/>
                <a:cs typeface="Times New Roman"/>
                <a:sym typeface="Times New Roman"/>
              </a:rPr>
              <a:t>Development Environment</a:t>
            </a:r>
            <a:endParaRPr>
              <a:latin typeface="Times New Roman"/>
              <a:ea typeface="Times New Roman"/>
              <a:cs typeface="Times New Roman"/>
              <a:sym typeface="Times New Roman"/>
            </a:endParaRPr>
          </a:p>
          <a:p>
            <a:pPr marL="914400" lvl="1" indent="-317500" algn="l" rtl="0">
              <a:spcBef>
                <a:spcPts val="0"/>
              </a:spcBef>
              <a:spcAft>
                <a:spcPts val="0"/>
              </a:spcAft>
              <a:buSzPts val="1400"/>
              <a:buFont typeface="Times New Roman"/>
              <a:buChar char="○"/>
            </a:pPr>
            <a:r>
              <a:rPr lang="en-GB" sz="1400">
                <a:latin typeface="Times New Roman"/>
                <a:ea typeface="Times New Roman"/>
                <a:cs typeface="Times New Roman"/>
                <a:sym typeface="Times New Roman"/>
              </a:rPr>
              <a:t>Jupyter Notebook</a:t>
            </a:r>
            <a:endParaRPr sz="1400">
              <a:latin typeface="Times New Roman"/>
              <a:ea typeface="Times New Roman"/>
              <a:cs typeface="Times New Roman"/>
              <a:sym typeface="Times New Roman"/>
            </a:endParaRPr>
          </a:p>
          <a:p>
            <a:pPr marL="914400" lvl="1" indent="-317500" algn="l" rtl="0">
              <a:spcBef>
                <a:spcPts val="0"/>
              </a:spcBef>
              <a:spcAft>
                <a:spcPts val="0"/>
              </a:spcAft>
              <a:buSzPts val="1400"/>
              <a:buFont typeface="Times New Roman"/>
              <a:buChar char="○"/>
            </a:pPr>
            <a:r>
              <a:rPr lang="en-GB" sz="1400">
                <a:latin typeface="Times New Roman"/>
                <a:ea typeface="Times New Roman"/>
                <a:cs typeface="Times New Roman"/>
                <a:sym typeface="Times New Roman"/>
              </a:rPr>
              <a:t>VS Code</a:t>
            </a:r>
            <a:br>
              <a:rPr lang="en-GB" sz="1400">
                <a:latin typeface="Times New Roman"/>
                <a:ea typeface="Times New Roman"/>
                <a:cs typeface="Times New Roman"/>
                <a:sym typeface="Times New Roman"/>
              </a:rPr>
            </a:br>
            <a:endParaRPr sz="1400">
              <a:latin typeface="Times New Roman"/>
              <a:ea typeface="Times New Roman"/>
              <a:cs typeface="Times New Roman"/>
              <a:sym typeface="Times New Roman"/>
            </a:endParaRPr>
          </a:p>
          <a:p>
            <a:pPr marL="457200" lvl="0" indent="-317500" algn="l" rtl="0">
              <a:spcBef>
                <a:spcPts val="0"/>
              </a:spcBef>
              <a:spcAft>
                <a:spcPts val="0"/>
              </a:spcAft>
              <a:buSzPts val="1400"/>
              <a:buFont typeface="Times New Roman"/>
              <a:buChar char="●"/>
            </a:pPr>
            <a:r>
              <a:rPr lang="en-GB">
                <a:latin typeface="Times New Roman"/>
                <a:ea typeface="Times New Roman"/>
                <a:cs typeface="Times New Roman"/>
                <a:sym typeface="Times New Roman"/>
              </a:rPr>
              <a:t>Input/Ouput</a:t>
            </a:r>
            <a:endParaRPr>
              <a:latin typeface="Times New Roman"/>
              <a:ea typeface="Times New Roman"/>
              <a:cs typeface="Times New Roman"/>
              <a:sym typeface="Times New Roman"/>
            </a:endParaRPr>
          </a:p>
          <a:p>
            <a:pPr marL="914400" lvl="1" indent="-317500" algn="l" rtl="0">
              <a:spcBef>
                <a:spcPts val="0"/>
              </a:spcBef>
              <a:spcAft>
                <a:spcPts val="0"/>
              </a:spcAft>
              <a:buSzPts val="1400"/>
              <a:buFont typeface="Times New Roman"/>
              <a:buChar char="○"/>
            </a:pPr>
            <a:r>
              <a:rPr lang="en-GB" sz="1400">
                <a:latin typeface="Times New Roman"/>
                <a:ea typeface="Times New Roman"/>
                <a:cs typeface="Times New Roman"/>
                <a:sym typeface="Times New Roman"/>
              </a:rPr>
              <a:t>Resume dataset in .csv</a:t>
            </a:r>
            <a:endParaRPr sz="1400">
              <a:latin typeface="Times New Roman"/>
              <a:ea typeface="Times New Roman"/>
              <a:cs typeface="Times New Roman"/>
              <a:sym typeface="Times New Roman"/>
            </a:endParaRPr>
          </a:p>
          <a:p>
            <a:pPr marL="914400" lvl="1" indent="-317500" algn="l" rtl="0">
              <a:spcBef>
                <a:spcPts val="0"/>
              </a:spcBef>
              <a:spcAft>
                <a:spcPts val="0"/>
              </a:spcAft>
              <a:buSzPts val="1400"/>
              <a:buFont typeface="Times New Roman"/>
              <a:buChar char="○"/>
            </a:pPr>
            <a:r>
              <a:rPr lang="en-GB" sz="1400">
                <a:latin typeface="Times New Roman"/>
                <a:ea typeface="Times New Roman"/>
                <a:cs typeface="Times New Roman"/>
                <a:sym typeface="Times New Roman"/>
              </a:rPr>
              <a:t>Resume files in .pdf , .txt, .docx</a:t>
            </a:r>
            <a:endParaRPr sz="140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84"/>
        <p:cNvGrpSpPr/>
        <p:nvPr/>
      </p:nvGrpSpPr>
      <p:grpSpPr>
        <a:xfrm>
          <a:off x="0" y="0"/>
          <a:ext cx="0" cy="0"/>
          <a:chOff x="0" y="0"/>
          <a:chExt cx="0" cy="0"/>
        </a:xfrm>
      </p:grpSpPr>
      <p:sp>
        <p:nvSpPr>
          <p:cNvPr id="85" name="Google Shape;85;p18"/>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GB">
                <a:latin typeface="Times New Roman"/>
                <a:ea typeface="Times New Roman"/>
                <a:cs typeface="Times New Roman"/>
                <a:sym typeface="Times New Roman"/>
              </a:rPr>
              <a:t>System Architecture</a:t>
            </a:r>
            <a:endParaRPr>
              <a:latin typeface="Times New Roman"/>
              <a:ea typeface="Times New Roman"/>
              <a:cs typeface="Times New Roman"/>
              <a:sym typeface="Times New Roman"/>
            </a:endParaRPr>
          </a:p>
        </p:txBody>
      </p:sp>
      <p:pic>
        <p:nvPicPr>
          <p:cNvPr id="86" name="Google Shape;86;p18"/>
          <p:cNvPicPr preferRelativeResize="0"/>
          <p:nvPr/>
        </p:nvPicPr>
        <p:blipFill>
          <a:blip r:embed="rId3">
            <a:alphaModFix/>
          </a:blip>
          <a:stretch>
            <a:fillRect/>
          </a:stretch>
        </p:blipFill>
        <p:spPr>
          <a:xfrm>
            <a:off x="1561500" y="1017725"/>
            <a:ext cx="5467950" cy="3561325"/>
          </a:xfrm>
          <a:prstGeom prst="rect">
            <a:avLst/>
          </a:prstGeom>
          <a:noFill/>
          <a:ln>
            <a:noFill/>
          </a:ln>
        </p:spPr>
      </p:pic>
      <p:sp>
        <p:nvSpPr>
          <p:cNvPr id="87" name="Google Shape;87;p18"/>
          <p:cNvSpPr txBox="1"/>
          <p:nvPr/>
        </p:nvSpPr>
        <p:spPr>
          <a:xfrm>
            <a:off x="1561500" y="4681800"/>
            <a:ext cx="5468100" cy="569356"/>
          </a:xfrm>
          <a:prstGeom prst="rect">
            <a:avLst/>
          </a:prstGeom>
          <a:noFill/>
          <a:ln>
            <a:noFill/>
          </a:ln>
        </p:spPr>
        <p:txBody>
          <a:bodyPr spcFirstLastPara="1" wrap="square" lIns="91425" tIns="91425" rIns="91425" bIns="91425" anchor="t" anchorCtr="0">
            <a:spAutoFit/>
          </a:bodyPr>
          <a:lstStyle/>
          <a:p>
            <a:pPr lvl="0" algn="ctr"/>
            <a:r>
              <a:rPr lang="en-GB" dirty="0">
                <a:solidFill>
                  <a:schemeClr val="dk2"/>
                </a:solidFill>
                <a:latin typeface="Times New Roman"/>
                <a:ea typeface="Times New Roman"/>
                <a:cs typeface="Times New Roman"/>
                <a:sym typeface="Times New Roman"/>
              </a:rPr>
              <a:t>Fig. A workflow diagram of the proposed model (</a:t>
            </a:r>
            <a:r>
              <a:rPr lang="en-GB" sz="1100" dirty="0">
                <a:solidFill>
                  <a:schemeClr val="dk2"/>
                </a:solidFill>
                <a:latin typeface="Times New Roman"/>
                <a:ea typeface="Times New Roman"/>
                <a:cs typeface="Times New Roman"/>
                <a:sym typeface="Times New Roman"/>
              </a:rPr>
              <a:t>Ref.</a:t>
            </a:r>
            <a:r>
              <a:rPr lang="en-GB" sz="1100" dirty="0">
                <a:solidFill>
                  <a:schemeClr val="bg2"/>
                </a:solidFill>
                <a:latin typeface="Times New Roman" panose="02020603050405020304" pitchFamily="18" charset="0"/>
                <a:ea typeface="Times New Roman"/>
                <a:cs typeface="Times New Roman" panose="02020603050405020304" pitchFamily="18" charset="0"/>
                <a:sym typeface="Times New Roman"/>
              </a:rPr>
              <a:t> </a:t>
            </a:r>
            <a:r>
              <a:rPr lang="en-US" sz="1100" dirty="0">
                <a:solidFill>
                  <a:schemeClr val="bg2"/>
                </a:solidFill>
                <a:latin typeface="Times New Roman" panose="02020603050405020304" pitchFamily="18" charset="0"/>
                <a:cs typeface="Times New Roman" panose="02020603050405020304" pitchFamily="18" charset="0"/>
              </a:rPr>
              <a:t>A Machine Learning approach for Automated Resume Recommendation System, ICCIDS 2019) </a:t>
            </a:r>
            <a:endParaRPr sz="1100" dirty="0">
              <a:solidFill>
                <a:schemeClr val="bg2"/>
              </a:solidFill>
              <a:latin typeface="Times New Roman" panose="02020603050405020304" pitchFamily="18" charset="0"/>
              <a:ea typeface="Times New Roman"/>
              <a:cs typeface="Times New Roman" panose="02020603050405020304" pitchFamily="18" charset="0"/>
              <a:sym typeface="Times New Roman"/>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91"/>
        <p:cNvGrpSpPr/>
        <p:nvPr/>
      </p:nvGrpSpPr>
      <p:grpSpPr>
        <a:xfrm>
          <a:off x="0" y="0"/>
          <a:ext cx="0" cy="0"/>
          <a:chOff x="0" y="0"/>
          <a:chExt cx="0" cy="0"/>
        </a:xfrm>
      </p:grpSpPr>
      <p:sp>
        <p:nvSpPr>
          <p:cNvPr id="92" name="Google Shape;92;p19"/>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GB">
                <a:latin typeface="Times New Roman"/>
                <a:ea typeface="Times New Roman"/>
                <a:cs typeface="Times New Roman"/>
                <a:sym typeface="Times New Roman"/>
              </a:rPr>
              <a:t>System Architecture</a:t>
            </a:r>
            <a:endParaRPr>
              <a:latin typeface="Times New Roman"/>
              <a:ea typeface="Times New Roman"/>
              <a:cs typeface="Times New Roman"/>
              <a:sym typeface="Times New Roman"/>
            </a:endParaRPr>
          </a:p>
        </p:txBody>
      </p:sp>
      <p:pic>
        <p:nvPicPr>
          <p:cNvPr id="93" name="Google Shape;93;p19"/>
          <p:cNvPicPr preferRelativeResize="0"/>
          <p:nvPr/>
        </p:nvPicPr>
        <p:blipFill rotWithShape="1">
          <a:blip r:embed="rId3">
            <a:alphaModFix/>
          </a:blip>
          <a:srcRect b="58560"/>
          <a:stretch/>
        </p:blipFill>
        <p:spPr>
          <a:xfrm>
            <a:off x="604500" y="1100650"/>
            <a:ext cx="3630949" cy="3624350"/>
          </a:xfrm>
          <a:prstGeom prst="rect">
            <a:avLst/>
          </a:prstGeom>
          <a:noFill/>
          <a:ln>
            <a:noFill/>
          </a:ln>
        </p:spPr>
      </p:pic>
      <p:pic>
        <p:nvPicPr>
          <p:cNvPr id="94" name="Google Shape;94;p19"/>
          <p:cNvPicPr preferRelativeResize="0"/>
          <p:nvPr/>
        </p:nvPicPr>
        <p:blipFill rotWithShape="1">
          <a:blip r:embed="rId3">
            <a:alphaModFix/>
          </a:blip>
          <a:srcRect t="40741"/>
          <a:stretch/>
        </p:blipFill>
        <p:spPr>
          <a:xfrm>
            <a:off x="5625200" y="445025"/>
            <a:ext cx="3044650" cy="4345925"/>
          </a:xfrm>
          <a:prstGeom prst="rect">
            <a:avLst/>
          </a:prstGeom>
          <a:noFill/>
          <a:ln>
            <a:noFill/>
          </a:ln>
        </p:spPr>
      </p:pic>
      <p:sp>
        <p:nvSpPr>
          <p:cNvPr id="95" name="Google Shape;95;p19"/>
          <p:cNvSpPr txBox="1"/>
          <p:nvPr/>
        </p:nvSpPr>
        <p:spPr>
          <a:xfrm>
            <a:off x="795875" y="4725000"/>
            <a:ext cx="5653800" cy="3693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GB" sz="1200">
                <a:solidFill>
                  <a:schemeClr val="dk2"/>
                </a:solidFill>
              </a:rPr>
              <a:t>Fig. Flowchart for the System</a:t>
            </a:r>
            <a:endParaRPr sz="1200">
              <a:solidFill>
                <a:schemeClr val="dk2"/>
              </a:solidFill>
            </a:endParaRPr>
          </a:p>
        </p:txBody>
      </p:sp>
      <p:sp>
        <p:nvSpPr>
          <p:cNvPr id="96" name="Google Shape;96;p19"/>
          <p:cNvSpPr txBox="1"/>
          <p:nvPr/>
        </p:nvSpPr>
        <p:spPr>
          <a:xfrm>
            <a:off x="5625200" y="4790950"/>
            <a:ext cx="5653800" cy="3693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GB" sz="1200">
                <a:solidFill>
                  <a:schemeClr val="dk2"/>
                </a:solidFill>
              </a:rPr>
              <a:t>Fig. Flowchart contd.</a:t>
            </a:r>
            <a:endParaRPr sz="1200">
              <a:solidFill>
                <a:schemeClr val="dk2"/>
              </a:solidFill>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00"/>
        <p:cNvGrpSpPr/>
        <p:nvPr/>
      </p:nvGrpSpPr>
      <p:grpSpPr>
        <a:xfrm>
          <a:off x="0" y="0"/>
          <a:ext cx="0" cy="0"/>
          <a:chOff x="0" y="0"/>
          <a:chExt cx="0" cy="0"/>
        </a:xfrm>
      </p:grpSpPr>
      <p:sp>
        <p:nvSpPr>
          <p:cNvPr id="101" name="Google Shape;101;p20"/>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SzPts val="990"/>
              <a:buNone/>
            </a:pPr>
            <a:r>
              <a:rPr lang="en-GB" sz="2500">
                <a:latin typeface="Times New Roman"/>
                <a:ea typeface="Times New Roman"/>
                <a:cs typeface="Times New Roman"/>
                <a:sym typeface="Times New Roman"/>
              </a:rPr>
              <a:t>Project Components </a:t>
            </a:r>
            <a:endParaRPr sz="2500">
              <a:latin typeface="Times New Roman"/>
              <a:ea typeface="Times New Roman"/>
              <a:cs typeface="Times New Roman"/>
              <a:sym typeface="Times New Roman"/>
            </a:endParaRPr>
          </a:p>
        </p:txBody>
      </p:sp>
      <p:sp>
        <p:nvSpPr>
          <p:cNvPr id="102" name="Google Shape;102;p20"/>
          <p:cNvSpPr txBox="1">
            <a:spLocks noGrp="1"/>
          </p:cNvSpPr>
          <p:nvPr>
            <p:ph type="body" idx="1"/>
          </p:nvPr>
        </p:nvSpPr>
        <p:spPr>
          <a:xfrm>
            <a:off x="311700" y="1152475"/>
            <a:ext cx="3999900" cy="3416400"/>
          </a:xfrm>
          <a:prstGeom prst="rect">
            <a:avLst/>
          </a:prstGeom>
          <a:ln w="9525" cap="flat" cmpd="sng">
            <a:solidFill>
              <a:schemeClr val="lt2"/>
            </a:solidFill>
            <a:prstDash val="solid"/>
            <a:round/>
            <a:headEnd type="none" w="sm" len="sm"/>
            <a:tailEnd type="none" w="sm" len="sm"/>
          </a:ln>
        </p:spPr>
        <p:txBody>
          <a:bodyPr spcFirstLastPara="1" wrap="square" lIns="91425" tIns="91425" rIns="91425" bIns="91425" anchor="t" anchorCtr="0">
            <a:normAutofit/>
          </a:bodyPr>
          <a:lstStyle/>
          <a:p>
            <a:pPr marL="0" lvl="0" indent="0" algn="l" rtl="0">
              <a:lnSpc>
                <a:spcPct val="100000"/>
              </a:lnSpc>
              <a:spcBef>
                <a:spcPts val="0"/>
              </a:spcBef>
              <a:spcAft>
                <a:spcPts val="0"/>
              </a:spcAft>
              <a:buClr>
                <a:schemeClr val="dk1"/>
              </a:buClr>
              <a:buSzPts val="1100"/>
              <a:buFont typeface="Arial"/>
              <a:buNone/>
            </a:pPr>
            <a:r>
              <a:rPr lang="en-GB" sz="1600" b="1">
                <a:latin typeface="Times New Roman"/>
                <a:ea typeface="Times New Roman"/>
                <a:cs typeface="Times New Roman"/>
                <a:sym typeface="Times New Roman"/>
              </a:rPr>
              <a:t>Data Collection and Preprocessing</a:t>
            </a:r>
            <a:endParaRPr sz="1600" b="1">
              <a:latin typeface="Times New Roman"/>
              <a:ea typeface="Times New Roman"/>
              <a:cs typeface="Times New Roman"/>
              <a:sym typeface="Times New Roman"/>
            </a:endParaRPr>
          </a:p>
          <a:p>
            <a:pPr marL="0" lvl="0" indent="0" algn="l" rtl="0">
              <a:lnSpc>
                <a:spcPct val="100000"/>
              </a:lnSpc>
              <a:spcBef>
                <a:spcPts val="0"/>
              </a:spcBef>
              <a:spcAft>
                <a:spcPts val="0"/>
              </a:spcAft>
              <a:buClr>
                <a:schemeClr val="dk1"/>
              </a:buClr>
              <a:buSzPts val="1100"/>
              <a:buFont typeface="Arial"/>
              <a:buNone/>
            </a:pPr>
            <a:endParaRPr sz="1600">
              <a:latin typeface="Times New Roman"/>
              <a:ea typeface="Times New Roman"/>
              <a:cs typeface="Times New Roman"/>
              <a:sym typeface="Times New Roman"/>
            </a:endParaRPr>
          </a:p>
          <a:p>
            <a:pPr marL="457200" lvl="0" indent="-330200" algn="l" rtl="0">
              <a:lnSpc>
                <a:spcPct val="100000"/>
              </a:lnSpc>
              <a:spcBef>
                <a:spcPts val="0"/>
              </a:spcBef>
              <a:spcAft>
                <a:spcPts val="0"/>
              </a:spcAft>
              <a:buClr>
                <a:schemeClr val="dk2"/>
              </a:buClr>
              <a:buSzPts val="1600"/>
              <a:buFont typeface="Times New Roman"/>
              <a:buChar char="●"/>
            </a:pPr>
            <a:r>
              <a:rPr lang="en-GB" sz="1600">
                <a:latin typeface="Times New Roman"/>
                <a:ea typeface="Times New Roman"/>
                <a:cs typeface="Times New Roman"/>
                <a:sym typeface="Times New Roman"/>
              </a:rPr>
              <a:t>Gather a dataset of resumes, in PDF or DOCX Format.</a:t>
            </a:r>
            <a:endParaRPr sz="1600">
              <a:latin typeface="Times New Roman"/>
              <a:ea typeface="Times New Roman"/>
              <a:cs typeface="Times New Roman"/>
              <a:sym typeface="Times New Roman"/>
            </a:endParaRPr>
          </a:p>
          <a:p>
            <a:pPr marL="457200" lvl="0" indent="0" algn="l" rtl="0">
              <a:lnSpc>
                <a:spcPct val="100000"/>
              </a:lnSpc>
              <a:spcBef>
                <a:spcPts val="0"/>
              </a:spcBef>
              <a:spcAft>
                <a:spcPts val="0"/>
              </a:spcAft>
              <a:buClr>
                <a:schemeClr val="dk1"/>
              </a:buClr>
              <a:buSzPts val="1100"/>
              <a:buFont typeface="Arial"/>
              <a:buNone/>
            </a:pPr>
            <a:endParaRPr sz="1600">
              <a:latin typeface="Times New Roman"/>
              <a:ea typeface="Times New Roman"/>
              <a:cs typeface="Times New Roman"/>
              <a:sym typeface="Times New Roman"/>
            </a:endParaRPr>
          </a:p>
          <a:p>
            <a:pPr marL="457200" lvl="0" indent="-330200" algn="l" rtl="0">
              <a:lnSpc>
                <a:spcPct val="100000"/>
              </a:lnSpc>
              <a:spcBef>
                <a:spcPts val="0"/>
              </a:spcBef>
              <a:spcAft>
                <a:spcPts val="0"/>
              </a:spcAft>
              <a:buClr>
                <a:schemeClr val="dk2"/>
              </a:buClr>
              <a:buSzPts val="1600"/>
              <a:buFont typeface="Times New Roman"/>
              <a:buChar char="●"/>
            </a:pPr>
            <a:r>
              <a:rPr lang="en-GB" sz="1600">
                <a:latin typeface="Times New Roman"/>
                <a:ea typeface="Times New Roman"/>
                <a:cs typeface="Times New Roman"/>
                <a:sym typeface="Times New Roman"/>
              </a:rPr>
              <a:t>Clean the text by removing irrelevant elements.</a:t>
            </a:r>
            <a:endParaRPr sz="1600">
              <a:latin typeface="Times New Roman"/>
              <a:ea typeface="Times New Roman"/>
              <a:cs typeface="Times New Roman"/>
              <a:sym typeface="Times New Roman"/>
            </a:endParaRPr>
          </a:p>
          <a:p>
            <a:pPr marL="457200" lvl="0" indent="0" algn="l" rtl="0">
              <a:lnSpc>
                <a:spcPct val="100000"/>
              </a:lnSpc>
              <a:spcBef>
                <a:spcPts val="0"/>
              </a:spcBef>
              <a:spcAft>
                <a:spcPts val="0"/>
              </a:spcAft>
              <a:buClr>
                <a:schemeClr val="dk1"/>
              </a:buClr>
              <a:buSzPts val="1100"/>
              <a:buFont typeface="Arial"/>
              <a:buNone/>
            </a:pPr>
            <a:endParaRPr sz="1600">
              <a:latin typeface="Times New Roman"/>
              <a:ea typeface="Times New Roman"/>
              <a:cs typeface="Times New Roman"/>
              <a:sym typeface="Times New Roman"/>
            </a:endParaRPr>
          </a:p>
          <a:p>
            <a:pPr marL="457200" lvl="0" indent="-330200" algn="l" rtl="0">
              <a:lnSpc>
                <a:spcPct val="100000"/>
              </a:lnSpc>
              <a:spcBef>
                <a:spcPts val="0"/>
              </a:spcBef>
              <a:spcAft>
                <a:spcPts val="0"/>
              </a:spcAft>
              <a:buClr>
                <a:schemeClr val="dk2"/>
              </a:buClr>
              <a:buSzPts val="1600"/>
              <a:buFont typeface="Times New Roman"/>
              <a:buChar char="●"/>
            </a:pPr>
            <a:r>
              <a:rPr lang="en-GB" sz="1600">
                <a:latin typeface="Times New Roman"/>
                <a:ea typeface="Times New Roman"/>
                <a:cs typeface="Times New Roman"/>
                <a:sym typeface="Times New Roman"/>
              </a:rPr>
              <a:t>Preprocessing text to prepare it for feature extraction and model training.</a:t>
            </a:r>
            <a:endParaRPr sz="1600">
              <a:latin typeface="Times New Roman"/>
              <a:ea typeface="Times New Roman"/>
              <a:cs typeface="Times New Roman"/>
              <a:sym typeface="Times New Roman"/>
            </a:endParaRPr>
          </a:p>
          <a:p>
            <a:pPr marL="0" lvl="0" indent="0" algn="l" rtl="0">
              <a:spcBef>
                <a:spcPts val="0"/>
              </a:spcBef>
              <a:spcAft>
                <a:spcPts val="1200"/>
              </a:spcAft>
              <a:buNone/>
            </a:pPr>
            <a:endParaRPr sz="1600"/>
          </a:p>
        </p:txBody>
      </p:sp>
      <p:sp>
        <p:nvSpPr>
          <p:cNvPr id="103" name="Google Shape;103;p20"/>
          <p:cNvSpPr txBox="1">
            <a:spLocks noGrp="1"/>
          </p:cNvSpPr>
          <p:nvPr>
            <p:ph type="body" idx="2"/>
          </p:nvPr>
        </p:nvSpPr>
        <p:spPr>
          <a:xfrm>
            <a:off x="4832400" y="1152475"/>
            <a:ext cx="3999900" cy="3416400"/>
          </a:xfrm>
          <a:prstGeom prst="rect">
            <a:avLst/>
          </a:prstGeom>
          <a:ln w="9525" cap="flat" cmpd="sng">
            <a:solidFill>
              <a:schemeClr val="lt2"/>
            </a:solidFill>
            <a:prstDash val="solid"/>
            <a:round/>
            <a:headEnd type="none" w="sm" len="sm"/>
            <a:tailEnd type="none" w="sm" len="sm"/>
          </a:ln>
        </p:spPr>
        <p:txBody>
          <a:bodyPr spcFirstLastPara="1" wrap="square" lIns="91425" tIns="91425" rIns="91425" bIns="91425" anchor="t" anchorCtr="0">
            <a:normAutofit/>
          </a:bodyPr>
          <a:lstStyle/>
          <a:p>
            <a:pPr marL="0" lvl="0" indent="0" algn="l" rtl="0">
              <a:spcBef>
                <a:spcPts val="0"/>
              </a:spcBef>
              <a:spcAft>
                <a:spcPts val="0"/>
              </a:spcAft>
              <a:buNone/>
            </a:pPr>
            <a:r>
              <a:rPr lang="en-GB" sz="1600" b="1">
                <a:latin typeface="Times New Roman"/>
                <a:ea typeface="Times New Roman"/>
                <a:cs typeface="Times New Roman"/>
                <a:sym typeface="Times New Roman"/>
              </a:rPr>
              <a:t>Feature Engineering</a:t>
            </a:r>
            <a:endParaRPr sz="1600">
              <a:latin typeface="Times New Roman"/>
              <a:ea typeface="Times New Roman"/>
              <a:cs typeface="Times New Roman"/>
              <a:sym typeface="Times New Roman"/>
            </a:endParaRPr>
          </a:p>
          <a:p>
            <a:pPr marL="457200" lvl="0" indent="-330200" algn="l" rtl="0">
              <a:spcBef>
                <a:spcPts val="1200"/>
              </a:spcBef>
              <a:spcAft>
                <a:spcPts val="0"/>
              </a:spcAft>
              <a:buSzPts val="1600"/>
              <a:buFont typeface="Times New Roman"/>
              <a:buChar char="●"/>
            </a:pPr>
            <a:r>
              <a:rPr lang="en-GB" sz="1600">
                <a:latin typeface="Times New Roman"/>
                <a:ea typeface="Times New Roman"/>
                <a:cs typeface="Times New Roman"/>
                <a:sym typeface="Times New Roman"/>
              </a:rPr>
              <a:t>Using methods like Term Frequency-Inverse Document Frequency) to convert text into numerical vectors that machines can understand.</a:t>
            </a:r>
            <a:endParaRPr sz="1600">
              <a:latin typeface="Times New Roman"/>
              <a:ea typeface="Times New Roman"/>
              <a:cs typeface="Times New Roman"/>
              <a:sym typeface="Times New Roman"/>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07"/>
        <p:cNvGrpSpPr/>
        <p:nvPr/>
      </p:nvGrpSpPr>
      <p:grpSpPr>
        <a:xfrm>
          <a:off x="0" y="0"/>
          <a:ext cx="0" cy="0"/>
          <a:chOff x="0" y="0"/>
          <a:chExt cx="0" cy="0"/>
        </a:xfrm>
      </p:grpSpPr>
      <p:sp>
        <p:nvSpPr>
          <p:cNvPr id="108" name="Google Shape;108;p21"/>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GB" sz="2500">
                <a:latin typeface="Times New Roman"/>
                <a:ea typeface="Times New Roman"/>
                <a:cs typeface="Times New Roman"/>
                <a:sym typeface="Times New Roman"/>
              </a:rPr>
              <a:t>Project Components</a:t>
            </a:r>
            <a:endParaRPr sz="2500">
              <a:latin typeface="Times New Roman"/>
              <a:ea typeface="Times New Roman"/>
              <a:cs typeface="Times New Roman"/>
              <a:sym typeface="Times New Roman"/>
            </a:endParaRPr>
          </a:p>
        </p:txBody>
      </p:sp>
      <p:sp>
        <p:nvSpPr>
          <p:cNvPr id="109" name="Google Shape;109;p21"/>
          <p:cNvSpPr txBox="1">
            <a:spLocks noGrp="1"/>
          </p:cNvSpPr>
          <p:nvPr>
            <p:ph type="body" idx="1"/>
          </p:nvPr>
        </p:nvSpPr>
        <p:spPr>
          <a:xfrm>
            <a:off x="311700" y="1152475"/>
            <a:ext cx="3999900" cy="3416400"/>
          </a:xfrm>
          <a:prstGeom prst="rect">
            <a:avLst/>
          </a:prstGeom>
          <a:ln w="9525" cap="flat" cmpd="sng">
            <a:solidFill>
              <a:schemeClr val="lt2"/>
            </a:solidFill>
            <a:prstDash val="solid"/>
            <a:round/>
            <a:headEnd type="none" w="sm" len="sm"/>
            <a:tailEnd type="none" w="sm" len="sm"/>
          </a:ln>
        </p:spPr>
        <p:txBody>
          <a:bodyPr spcFirstLastPara="1" wrap="square" lIns="91425" tIns="91425" rIns="91425" bIns="91425" anchor="t" anchorCtr="0">
            <a:normAutofit/>
          </a:bodyPr>
          <a:lstStyle/>
          <a:p>
            <a:pPr marL="0" lvl="0" indent="0" algn="l" rtl="0">
              <a:lnSpc>
                <a:spcPct val="100000"/>
              </a:lnSpc>
              <a:spcBef>
                <a:spcPts val="0"/>
              </a:spcBef>
              <a:spcAft>
                <a:spcPts val="0"/>
              </a:spcAft>
              <a:buNone/>
            </a:pPr>
            <a:r>
              <a:rPr lang="en-GB" sz="1600" b="1">
                <a:latin typeface="Times New Roman"/>
                <a:ea typeface="Times New Roman"/>
                <a:cs typeface="Times New Roman"/>
                <a:sym typeface="Times New Roman"/>
              </a:rPr>
              <a:t>Model Training</a:t>
            </a:r>
            <a:endParaRPr sz="1600" b="1">
              <a:latin typeface="Times New Roman"/>
              <a:ea typeface="Times New Roman"/>
              <a:cs typeface="Times New Roman"/>
              <a:sym typeface="Times New Roman"/>
            </a:endParaRPr>
          </a:p>
          <a:p>
            <a:pPr marL="0" lvl="0" indent="0" algn="l" rtl="0">
              <a:lnSpc>
                <a:spcPct val="100000"/>
              </a:lnSpc>
              <a:spcBef>
                <a:spcPts val="0"/>
              </a:spcBef>
              <a:spcAft>
                <a:spcPts val="0"/>
              </a:spcAft>
              <a:buNone/>
            </a:pPr>
            <a:endParaRPr sz="1600">
              <a:latin typeface="Times New Roman"/>
              <a:ea typeface="Times New Roman"/>
              <a:cs typeface="Times New Roman"/>
              <a:sym typeface="Times New Roman"/>
            </a:endParaRPr>
          </a:p>
          <a:p>
            <a:pPr marL="457200" lvl="0" indent="-330200" algn="l" rtl="0">
              <a:lnSpc>
                <a:spcPct val="100000"/>
              </a:lnSpc>
              <a:spcBef>
                <a:spcPts val="0"/>
              </a:spcBef>
              <a:spcAft>
                <a:spcPts val="0"/>
              </a:spcAft>
              <a:buClr>
                <a:schemeClr val="dk2"/>
              </a:buClr>
              <a:buSzPts val="1600"/>
              <a:buFont typeface="Times New Roman"/>
              <a:buChar char="●"/>
            </a:pPr>
            <a:r>
              <a:rPr lang="en-GB" sz="1600">
                <a:latin typeface="Times New Roman"/>
                <a:ea typeface="Times New Roman"/>
                <a:cs typeface="Times New Roman"/>
                <a:sym typeface="Times New Roman"/>
              </a:rPr>
              <a:t>Build a Machine Learning model to predict a job category to score resumes..</a:t>
            </a:r>
            <a:endParaRPr sz="1600">
              <a:latin typeface="Times New Roman"/>
              <a:ea typeface="Times New Roman"/>
              <a:cs typeface="Times New Roman"/>
              <a:sym typeface="Times New Roman"/>
            </a:endParaRPr>
          </a:p>
          <a:p>
            <a:pPr marL="457200" lvl="0" indent="0" algn="l" rtl="0">
              <a:lnSpc>
                <a:spcPct val="100000"/>
              </a:lnSpc>
              <a:spcBef>
                <a:spcPts val="0"/>
              </a:spcBef>
              <a:spcAft>
                <a:spcPts val="0"/>
              </a:spcAft>
              <a:buNone/>
            </a:pPr>
            <a:endParaRPr sz="1600">
              <a:latin typeface="Times New Roman"/>
              <a:ea typeface="Times New Roman"/>
              <a:cs typeface="Times New Roman"/>
              <a:sym typeface="Times New Roman"/>
            </a:endParaRPr>
          </a:p>
          <a:p>
            <a:pPr marL="457200" lvl="0" indent="-330200" algn="l" rtl="0">
              <a:lnSpc>
                <a:spcPct val="100000"/>
              </a:lnSpc>
              <a:spcBef>
                <a:spcPts val="0"/>
              </a:spcBef>
              <a:spcAft>
                <a:spcPts val="0"/>
              </a:spcAft>
              <a:buClr>
                <a:schemeClr val="dk2"/>
              </a:buClr>
              <a:buSzPts val="1600"/>
              <a:buFont typeface="Times New Roman"/>
              <a:buChar char="●"/>
            </a:pPr>
            <a:r>
              <a:rPr lang="en-GB" sz="1600">
                <a:latin typeface="Times New Roman"/>
                <a:ea typeface="Times New Roman"/>
                <a:cs typeface="Times New Roman"/>
                <a:sym typeface="Times New Roman"/>
              </a:rPr>
              <a:t>Using Algorithms like Naive Bayes, Logistic regression and Linear SVM to train the system. </a:t>
            </a:r>
            <a:endParaRPr sz="1600">
              <a:latin typeface="Times New Roman"/>
              <a:ea typeface="Times New Roman"/>
              <a:cs typeface="Times New Roman"/>
              <a:sym typeface="Times New Roman"/>
            </a:endParaRPr>
          </a:p>
          <a:p>
            <a:pPr marL="457200" lvl="0" indent="0" algn="l" rtl="0">
              <a:lnSpc>
                <a:spcPct val="100000"/>
              </a:lnSpc>
              <a:spcBef>
                <a:spcPts val="0"/>
              </a:spcBef>
              <a:spcAft>
                <a:spcPts val="0"/>
              </a:spcAft>
              <a:buNone/>
            </a:pPr>
            <a:endParaRPr sz="1600">
              <a:latin typeface="Times New Roman"/>
              <a:ea typeface="Times New Roman"/>
              <a:cs typeface="Times New Roman"/>
              <a:sym typeface="Times New Roman"/>
            </a:endParaRPr>
          </a:p>
          <a:p>
            <a:pPr marL="457200" lvl="0" indent="-330200" algn="l" rtl="0">
              <a:lnSpc>
                <a:spcPct val="100000"/>
              </a:lnSpc>
              <a:spcBef>
                <a:spcPts val="0"/>
              </a:spcBef>
              <a:spcAft>
                <a:spcPts val="0"/>
              </a:spcAft>
              <a:buClr>
                <a:schemeClr val="dk1"/>
              </a:buClr>
              <a:buSzPts val="1600"/>
              <a:buFont typeface="Times New Roman"/>
              <a:buChar char="●"/>
            </a:pPr>
            <a:r>
              <a:rPr lang="en-GB" sz="1600">
                <a:latin typeface="Times New Roman"/>
                <a:ea typeface="Times New Roman"/>
                <a:cs typeface="Times New Roman"/>
                <a:sym typeface="Times New Roman"/>
              </a:rPr>
              <a:t>Evaluation metric used: Accuracy, F1 Score, Confusion Matrix.</a:t>
            </a:r>
            <a:endParaRPr sz="1600">
              <a:latin typeface="Times New Roman"/>
              <a:ea typeface="Times New Roman"/>
              <a:cs typeface="Times New Roman"/>
              <a:sym typeface="Times New Roman"/>
            </a:endParaRPr>
          </a:p>
          <a:p>
            <a:pPr marL="457200" lvl="0" indent="0" algn="l" rtl="0">
              <a:lnSpc>
                <a:spcPct val="100000"/>
              </a:lnSpc>
              <a:spcBef>
                <a:spcPts val="0"/>
              </a:spcBef>
              <a:spcAft>
                <a:spcPts val="0"/>
              </a:spcAft>
              <a:buNone/>
            </a:pPr>
            <a:endParaRPr sz="1600">
              <a:latin typeface="Times New Roman"/>
              <a:ea typeface="Times New Roman"/>
              <a:cs typeface="Times New Roman"/>
              <a:sym typeface="Times New Roman"/>
            </a:endParaRPr>
          </a:p>
          <a:p>
            <a:pPr marL="457200" lvl="0" indent="0" algn="l" rtl="0">
              <a:lnSpc>
                <a:spcPct val="100000"/>
              </a:lnSpc>
              <a:spcBef>
                <a:spcPts val="0"/>
              </a:spcBef>
              <a:spcAft>
                <a:spcPts val="0"/>
              </a:spcAft>
              <a:buNone/>
            </a:pPr>
            <a:endParaRPr sz="1600">
              <a:latin typeface="Times New Roman"/>
              <a:ea typeface="Times New Roman"/>
              <a:cs typeface="Times New Roman"/>
              <a:sym typeface="Times New Roman"/>
            </a:endParaRPr>
          </a:p>
          <a:p>
            <a:pPr marL="0" lvl="0" indent="0" algn="l" rtl="0">
              <a:spcBef>
                <a:spcPts val="0"/>
              </a:spcBef>
              <a:spcAft>
                <a:spcPts val="1200"/>
              </a:spcAft>
              <a:buNone/>
            </a:pPr>
            <a:endParaRPr sz="1600"/>
          </a:p>
        </p:txBody>
      </p:sp>
      <p:sp>
        <p:nvSpPr>
          <p:cNvPr id="110" name="Google Shape;110;p21"/>
          <p:cNvSpPr txBox="1">
            <a:spLocks noGrp="1"/>
          </p:cNvSpPr>
          <p:nvPr>
            <p:ph type="body" idx="2"/>
          </p:nvPr>
        </p:nvSpPr>
        <p:spPr>
          <a:xfrm>
            <a:off x="4832400" y="1152475"/>
            <a:ext cx="3999900" cy="3416400"/>
          </a:xfrm>
          <a:prstGeom prst="rect">
            <a:avLst/>
          </a:prstGeom>
          <a:ln w="9525" cap="flat" cmpd="sng">
            <a:solidFill>
              <a:schemeClr val="lt2"/>
            </a:solidFill>
            <a:prstDash val="solid"/>
            <a:round/>
            <a:headEnd type="none" w="sm" len="sm"/>
            <a:tailEnd type="none" w="sm" len="sm"/>
          </a:ln>
        </p:spPr>
        <p:txBody>
          <a:bodyPr spcFirstLastPara="1" wrap="square" lIns="91425" tIns="91425" rIns="91425" bIns="91425" anchor="t" anchorCtr="0">
            <a:normAutofit/>
          </a:bodyPr>
          <a:lstStyle/>
          <a:p>
            <a:pPr marL="0" lvl="0" indent="0" algn="l" rtl="0">
              <a:spcBef>
                <a:spcPts val="0"/>
              </a:spcBef>
              <a:spcAft>
                <a:spcPts val="0"/>
              </a:spcAft>
              <a:buNone/>
            </a:pPr>
            <a:r>
              <a:rPr lang="en-GB" sz="1600" b="1">
                <a:latin typeface="Times New Roman"/>
                <a:ea typeface="Times New Roman"/>
                <a:cs typeface="Times New Roman"/>
                <a:sym typeface="Times New Roman"/>
              </a:rPr>
              <a:t>Matching and Ranking</a:t>
            </a:r>
            <a:endParaRPr sz="1600">
              <a:latin typeface="Times New Roman"/>
              <a:ea typeface="Times New Roman"/>
              <a:cs typeface="Times New Roman"/>
              <a:sym typeface="Times New Roman"/>
            </a:endParaRPr>
          </a:p>
          <a:p>
            <a:pPr marL="457200" lvl="0" indent="-330200" algn="l" rtl="0">
              <a:spcBef>
                <a:spcPts val="1200"/>
              </a:spcBef>
              <a:spcAft>
                <a:spcPts val="0"/>
              </a:spcAft>
              <a:buSzPts val="1600"/>
              <a:buFont typeface="Times New Roman"/>
              <a:buChar char="●"/>
            </a:pPr>
            <a:r>
              <a:rPr lang="en-GB" sz="1600">
                <a:latin typeface="Times New Roman"/>
                <a:ea typeface="Times New Roman"/>
                <a:cs typeface="Times New Roman"/>
                <a:sym typeface="Times New Roman"/>
              </a:rPr>
              <a:t>Used Cosine Similarity to match the keywords of the job description to the resume keywords.</a:t>
            </a:r>
            <a:endParaRPr sz="1600">
              <a:latin typeface="Times New Roman"/>
              <a:ea typeface="Times New Roman"/>
              <a:cs typeface="Times New Roman"/>
              <a:sym typeface="Times New Roman"/>
            </a:endParaRPr>
          </a:p>
          <a:p>
            <a:pPr marL="457200" lvl="0" indent="-330200" algn="l" rtl="0">
              <a:spcBef>
                <a:spcPts val="0"/>
              </a:spcBef>
              <a:spcAft>
                <a:spcPts val="0"/>
              </a:spcAft>
              <a:buSzPts val="1600"/>
              <a:buFont typeface="Times New Roman"/>
              <a:buChar char="●"/>
            </a:pPr>
            <a:r>
              <a:rPr lang="en-GB" sz="1600">
                <a:latin typeface="Times New Roman"/>
                <a:ea typeface="Times New Roman"/>
                <a:cs typeface="Times New Roman"/>
                <a:sym typeface="Times New Roman"/>
              </a:rPr>
              <a:t>Ranked the candidates who are most suitable.</a:t>
            </a:r>
            <a:endParaRPr sz="1600">
              <a:latin typeface="Times New Roman"/>
              <a:ea typeface="Times New Roman"/>
              <a:cs typeface="Times New Roman"/>
              <a:sym typeface="Times New Roman"/>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14"/>
        <p:cNvGrpSpPr/>
        <p:nvPr/>
      </p:nvGrpSpPr>
      <p:grpSpPr>
        <a:xfrm>
          <a:off x="0" y="0"/>
          <a:ext cx="0" cy="0"/>
          <a:chOff x="0" y="0"/>
          <a:chExt cx="0" cy="0"/>
        </a:xfrm>
      </p:grpSpPr>
      <p:sp>
        <p:nvSpPr>
          <p:cNvPr id="115" name="Google Shape;115;p22"/>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GB" sz="2500">
                <a:latin typeface="Times New Roman"/>
                <a:ea typeface="Times New Roman"/>
                <a:cs typeface="Times New Roman"/>
                <a:sym typeface="Times New Roman"/>
              </a:rPr>
              <a:t>Project Components</a:t>
            </a:r>
            <a:endParaRPr sz="2500">
              <a:latin typeface="Times New Roman"/>
              <a:ea typeface="Times New Roman"/>
              <a:cs typeface="Times New Roman"/>
              <a:sym typeface="Times New Roman"/>
            </a:endParaRPr>
          </a:p>
        </p:txBody>
      </p:sp>
      <p:sp>
        <p:nvSpPr>
          <p:cNvPr id="116" name="Google Shape;116;p22"/>
          <p:cNvSpPr txBox="1">
            <a:spLocks noGrp="1"/>
          </p:cNvSpPr>
          <p:nvPr>
            <p:ph type="body" idx="1"/>
          </p:nvPr>
        </p:nvSpPr>
        <p:spPr>
          <a:xfrm>
            <a:off x="311700" y="1152475"/>
            <a:ext cx="3999900" cy="3416400"/>
          </a:xfrm>
          <a:prstGeom prst="rect">
            <a:avLst/>
          </a:prstGeom>
          <a:ln w="9525" cap="flat" cmpd="sng">
            <a:solidFill>
              <a:schemeClr val="lt2"/>
            </a:solidFill>
            <a:prstDash val="solid"/>
            <a:round/>
            <a:headEnd type="none" w="sm" len="sm"/>
            <a:tailEnd type="none" w="sm" len="sm"/>
          </a:ln>
        </p:spPr>
        <p:txBody>
          <a:bodyPr spcFirstLastPara="1" wrap="square" lIns="91425" tIns="91425" rIns="91425" bIns="91425" anchor="t" anchorCtr="0">
            <a:normAutofit/>
          </a:bodyPr>
          <a:lstStyle/>
          <a:p>
            <a:pPr marL="0" lvl="0" indent="0" algn="l" rtl="0">
              <a:lnSpc>
                <a:spcPct val="100000"/>
              </a:lnSpc>
              <a:spcBef>
                <a:spcPts val="0"/>
              </a:spcBef>
              <a:spcAft>
                <a:spcPts val="0"/>
              </a:spcAft>
              <a:buNone/>
            </a:pPr>
            <a:r>
              <a:rPr lang="en-GB" sz="1600" b="1">
                <a:latin typeface="Times New Roman"/>
                <a:ea typeface="Times New Roman"/>
                <a:cs typeface="Times New Roman"/>
                <a:sym typeface="Times New Roman"/>
              </a:rPr>
              <a:t>Output</a:t>
            </a:r>
            <a:endParaRPr sz="1600" b="1">
              <a:latin typeface="Times New Roman"/>
              <a:ea typeface="Times New Roman"/>
              <a:cs typeface="Times New Roman"/>
              <a:sym typeface="Times New Roman"/>
            </a:endParaRPr>
          </a:p>
          <a:p>
            <a:pPr marL="0" lvl="0" indent="0" algn="l" rtl="0">
              <a:lnSpc>
                <a:spcPct val="100000"/>
              </a:lnSpc>
              <a:spcBef>
                <a:spcPts val="0"/>
              </a:spcBef>
              <a:spcAft>
                <a:spcPts val="0"/>
              </a:spcAft>
              <a:buNone/>
            </a:pPr>
            <a:endParaRPr sz="1600">
              <a:latin typeface="Times New Roman"/>
              <a:ea typeface="Times New Roman"/>
              <a:cs typeface="Times New Roman"/>
              <a:sym typeface="Times New Roman"/>
            </a:endParaRPr>
          </a:p>
          <a:p>
            <a:pPr marL="457200" lvl="0" indent="-330200" algn="l" rtl="0">
              <a:lnSpc>
                <a:spcPct val="100000"/>
              </a:lnSpc>
              <a:spcBef>
                <a:spcPts val="0"/>
              </a:spcBef>
              <a:spcAft>
                <a:spcPts val="0"/>
              </a:spcAft>
              <a:buClr>
                <a:schemeClr val="dk2"/>
              </a:buClr>
              <a:buSzPts val="1600"/>
              <a:buFont typeface="Times New Roman"/>
              <a:buChar char="●"/>
            </a:pPr>
            <a:r>
              <a:rPr lang="en-GB" sz="1600">
                <a:latin typeface="Times New Roman"/>
                <a:ea typeface="Times New Roman"/>
                <a:cs typeface="Times New Roman"/>
                <a:sym typeface="Times New Roman"/>
              </a:rPr>
              <a:t>Predicted Category</a:t>
            </a:r>
            <a:endParaRPr sz="1600">
              <a:latin typeface="Times New Roman"/>
              <a:ea typeface="Times New Roman"/>
              <a:cs typeface="Times New Roman"/>
              <a:sym typeface="Times New Roman"/>
            </a:endParaRPr>
          </a:p>
          <a:p>
            <a:pPr marL="457200" lvl="0" indent="0" algn="l" rtl="0">
              <a:lnSpc>
                <a:spcPct val="100000"/>
              </a:lnSpc>
              <a:spcBef>
                <a:spcPts val="0"/>
              </a:spcBef>
              <a:spcAft>
                <a:spcPts val="0"/>
              </a:spcAft>
              <a:buNone/>
            </a:pPr>
            <a:endParaRPr sz="1600">
              <a:latin typeface="Times New Roman"/>
              <a:ea typeface="Times New Roman"/>
              <a:cs typeface="Times New Roman"/>
              <a:sym typeface="Times New Roman"/>
            </a:endParaRPr>
          </a:p>
          <a:p>
            <a:pPr marL="457200" lvl="0" indent="-330200" algn="l" rtl="0">
              <a:lnSpc>
                <a:spcPct val="100000"/>
              </a:lnSpc>
              <a:spcBef>
                <a:spcPts val="0"/>
              </a:spcBef>
              <a:spcAft>
                <a:spcPts val="0"/>
              </a:spcAft>
              <a:buClr>
                <a:schemeClr val="dk2"/>
              </a:buClr>
              <a:buSzPts val="1600"/>
              <a:buFont typeface="Times New Roman"/>
              <a:buChar char="●"/>
            </a:pPr>
            <a:r>
              <a:rPr lang="en-GB" sz="1600">
                <a:latin typeface="Times New Roman"/>
                <a:ea typeface="Times New Roman"/>
                <a:cs typeface="Times New Roman"/>
                <a:sym typeface="Times New Roman"/>
              </a:rPr>
              <a:t>Match Score</a:t>
            </a:r>
            <a:endParaRPr sz="1600">
              <a:latin typeface="Times New Roman"/>
              <a:ea typeface="Times New Roman"/>
              <a:cs typeface="Times New Roman"/>
              <a:sym typeface="Times New Roman"/>
            </a:endParaRPr>
          </a:p>
          <a:p>
            <a:pPr marL="457200" lvl="0" indent="0" algn="l" rtl="0">
              <a:lnSpc>
                <a:spcPct val="100000"/>
              </a:lnSpc>
              <a:spcBef>
                <a:spcPts val="0"/>
              </a:spcBef>
              <a:spcAft>
                <a:spcPts val="0"/>
              </a:spcAft>
              <a:buNone/>
            </a:pPr>
            <a:endParaRPr sz="1600">
              <a:latin typeface="Times New Roman"/>
              <a:ea typeface="Times New Roman"/>
              <a:cs typeface="Times New Roman"/>
              <a:sym typeface="Times New Roman"/>
            </a:endParaRPr>
          </a:p>
          <a:p>
            <a:pPr marL="457200" lvl="0" indent="-330200" algn="l" rtl="0">
              <a:lnSpc>
                <a:spcPct val="100000"/>
              </a:lnSpc>
              <a:spcBef>
                <a:spcPts val="0"/>
              </a:spcBef>
              <a:spcAft>
                <a:spcPts val="0"/>
              </a:spcAft>
              <a:buClr>
                <a:schemeClr val="dk1"/>
              </a:buClr>
              <a:buSzPts val="1600"/>
              <a:buFont typeface="Times New Roman"/>
              <a:buChar char="●"/>
            </a:pPr>
            <a:r>
              <a:rPr lang="en-GB" sz="1600">
                <a:latin typeface="Times New Roman"/>
                <a:ea typeface="Times New Roman"/>
                <a:cs typeface="Times New Roman"/>
                <a:sym typeface="Times New Roman"/>
              </a:rPr>
              <a:t>Best Candidate</a:t>
            </a:r>
            <a:endParaRPr sz="1600">
              <a:latin typeface="Times New Roman"/>
              <a:ea typeface="Times New Roman"/>
              <a:cs typeface="Times New Roman"/>
              <a:sym typeface="Times New Roman"/>
            </a:endParaRPr>
          </a:p>
          <a:p>
            <a:pPr marL="457200" lvl="0" indent="0" algn="l" rtl="0">
              <a:lnSpc>
                <a:spcPct val="100000"/>
              </a:lnSpc>
              <a:spcBef>
                <a:spcPts val="0"/>
              </a:spcBef>
              <a:spcAft>
                <a:spcPts val="0"/>
              </a:spcAft>
              <a:buNone/>
            </a:pPr>
            <a:endParaRPr sz="1600">
              <a:latin typeface="Times New Roman"/>
              <a:ea typeface="Times New Roman"/>
              <a:cs typeface="Times New Roman"/>
              <a:sym typeface="Times New Roman"/>
            </a:endParaRPr>
          </a:p>
          <a:p>
            <a:pPr marL="457200" lvl="0" indent="0" algn="l" rtl="0">
              <a:lnSpc>
                <a:spcPct val="100000"/>
              </a:lnSpc>
              <a:spcBef>
                <a:spcPts val="0"/>
              </a:spcBef>
              <a:spcAft>
                <a:spcPts val="0"/>
              </a:spcAft>
              <a:buNone/>
            </a:pPr>
            <a:endParaRPr sz="1600">
              <a:latin typeface="Times New Roman"/>
              <a:ea typeface="Times New Roman"/>
              <a:cs typeface="Times New Roman"/>
              <a:sym typeface="Times New Roman"/>
            </a:endParaRPr>
          </a:p>
          <a:p>
            <a:pPr marL="0" lvl="0" indent="0" algn="l" rtl="0">
              <a:spcBef>
                <a:spcPts val="0"/>
              </a:spcBef>
              <a:spcAft>
                <a:spcPts val="1200"/>
              </a:spcAft>
              <a:buNone/>
            </a:pPr>
            <a:endParaRPr sz="1600"/>
          </a:p>
        </p:txBody>
      </p:sp>
      <p:sp>
        <p:nvSpPr>
          <p:cNvPr id="117" name="Google Shape;117;p22"/>
          <p:cNvSpPr txBox="1">
            <a:spLocks noGrp="1"/>
          </p:cNvSpPr>
          <p:nvPr>
            <p:ph type="body" idx="2"/>
          </p:nvPr>
        </p:nvSpPr>
        <p:spPr>
          <a:xfrm>
            <a:off x="4832400" y="1152475"/>
            <a:ext cx="3999900" cy="3416400"/>
          </a:xfrm>
          <a:prstGeom prst="rect">
            <a:avLst/>
          </a:prstGeom>
          <a:ln w="9525" cap="flat" cmpd="sng">
            <a:solidFill>
              <a:schemeClr val="lt2"/>
            </a:solidFill>
            <a:prstDash val="solid"/>
            <a:round/>
            <a:headEnd type="none" w="sm" len="sm"/>
            <a:tailEnd type="none" w="sm" len="sm"/>
          </a:ln>
        </p:spPr>
        <p:txBody>
          <a:bodyPr spcFirstLastPara="1" wrap="square" lIns="91425" tIns="91425" rIns="91425" bIns="91425" anchor="t" anchorCtr="0">
            <a:normAutofit/>
          </a:bodyPr>
          <a:lstStyle/>
          <a:p>
            <a:pPr marL="0" lvl="0" indent="0" algn="l" rtl="0">
              <a:spcBef>
                <a:spcPts val="0"/>
              </a:spcBef>
              <a:spcAft>
                <a:spcPts val="0"/>
              </a:spcAft>
              <a:buNone/>
            </a:pPr>
            <a:r>
              <a:rPr lang="en-GB" sz="1600" b="1">
                <a:latin typeface="Times New Roman"/>
                <a:ea typeface="Times New Roman"/>
                <a:cs typeface="Times New Roman"/>
                <a:sym typeface="Times New Roman"/>
              </a:rPr>
              <a:t>Web Interface</a:t>
            </a:r>
            <a:endParaRPr sz="1600">
              <a:latin typeface="Times New Roman"/>
              <a:ea typeface="Times New Roman"/>
              <a:cs typeface="Times New Roman"/>
              <a:sym typeface="Times New Roman"/>
            </a:endParaRPr>
          </a:p>
          <a:p>
            <a:pPr marL="457200" lvl="0" indent="-330200" algn="l" rtl="0">
              <a:spcBef>
                <a:spcPts val="1200"/>
              </a:spcBef>
              <a:spcAft>
                <a:spcPts val="0"/>
              </a:spcAft>
              <a:buSzPts val="1600"/>
              <a:buFont typeface="Times New Roman"/>
              <a:buChar char="●"/>
            </a:pPr>
            <a:r>
              <a:rPr lang="en-GB" sz="1600">
                <a:latin typeface="Times New Roman"/>
                <a:ea typeface="Times New Roman"/>
                <a:cs typeface="Times New Roman"/>
                <a:sym typeface="Times New Roman"/>
              </a:rPr>
              <a:t>User inputs the job description.</a:t>
            </a:r>
            <a:endParaRPr sz="1600">
              <a:latin typeface="Times New Roman"/>
              <a:ea typeface="Times New Roman"/>
              <a:cs typeface="Times New Roman"/>
              <a:sym typeface="Times New Roman"/>
            </a:endParaRPr>
          </a:p>
          <a:p>
            <a:pPr marL="457200" lvl="0" indent="-330200" algn="l" rtl="0">
              <a:spcBef>
                <a:spcPts val="0"/>
              </a:spcBef>
              <a:spcAft>
                <a:spcPts val="0"/>
              </a:spcAft>
              <a:buSzPts val="1600"/>
              <a:buFont typeface="Times New Roman"/>
              <a:buChar char="●"/>
            </a:pPr>
            <a:r>
              <a:rPr lang="en-GB" sz="1600">
                <a:latin typeface="Times New Roman"/>
                <a:ea typeface="Times New Roman"/>
                <a:cs typeface="Times New Roman"/>
                <a:sym typeface="Times New Roman"/>
              </a:rPr>
              <a:t>User uploads resumes in .pdf, .docx or .txt format</a:t>
            </a:r>
            <a:endParaRPr sz="1600">
              <a:latin typeface="Times New Roman"/>
              <a:ea typeface="Times New Roman"/>
              <a:cs typeface="Times New Roman"/>
              <a:sym typeface="Times New Roman"/>
            </a:endParaRPr>
          </a:p>
          <a:p>
            <a:pPr marL="457200" lvl="0" indent="-330200" algn="l" rtl="0">
              <a:spcBef>
                <a:spcPts val="0"/>
              </a:spcBef>
              <a:spcAft>
                <a:spcPts val="0"/>
              </a:spcAft>
              <a:buSzPts val="1600"/>
              <a:buFont typeface="Times New Roman"/>
              <a:buChar char="●"/>
            </a:pPr>
            <a:r>
              <a:rPr lang="en-GB" sz="1600">
                <a:latin typeface="Times New Roman"/>
                <a:ea typeface="Times New Roman"/>
                <a:cs typeface="Times New Roman"/>
                <a:sym typeface="Times New Roman"/>
              </a:rPr>
              <a:t>Shows the best candidate along with match score.</a:t>
            </a:r>
            <a:endParaRPr sz="1600">
              <a:latin typeface="Times New Roman"/>
              <a:ea typeface="Times New Roman"/>
              <a:cs typeface="Times New Roman"/>
              <a:sym typeface="Times New Roman"/>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21"/>
        <p:cNvGrpSpPr/>
        <p:nvPr/>
      </p:nvGrpSpPr>
      <p:grpSpPr>
        <a:xfrm>
          <a:off x="0" y="0"/>
          <a:ext cx="0" cy="0"/>
          <a:chOff x="0" y="0"/>
          <a:chExt cx="0" cy="0"/>
        </a:xfrm>
      </p:grpSpPr>
      <p:sp>
        <p:nvSpPr>
          <p:cNvPr id="122" name="Google Shape;122;p23"/>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GB">
                <a:latin typeface="Times New Roman"/>
                <a:ea typeface="Times New Roman"/>
                <a:cs typeface="Times New Roman"/>
                <a:sym typeface="Times New Roman"/>
              </a:rPr>
              <a:t>Algorithm</a:t>
            </a:r>
            <a:endParaRPr>
              <a:latin typeface="Times New Roman"/>
              <a:ea typeface="Times New Roman"/>
              <a:cs typeface="Times New Roman"/>
              <a:sym typeface="Times New Roman"/>
            </a:endParaRPr>
          </a:p>
          <a:p>
            <a:pPr marL="0" lvl="0" indent="0" algn="l" rtl="0">
              <a:spcBef>
                <a:spcPts val="0"/>
              </a:spcBef>
              <a:spcAft>
                <a:spcPts val="0"/>
              </a:spcAft>
              <a:buNone/>
            </a:pPr>
            <a:endParaRPr/>
          </a:p>
        </p:txBody>
      </p:sp>
      <p:sp>
        <p:nvSpPr>
          <p:cNvPr id="123" name="Google Shape;123;p23"/>
          <p:cNvSpPr txBox="1"/>
          <p:nvPr/>
        </p:nvSpPr>
        <p:spPr>
          <a:xfrm>
            <a:off x="440575" y="958175"/>
            <a:ext cx="8003400" cy="3644100"/>
          </a:xfrm>
          <a:prstGeom prst="rect">
            <a:avLst/>
          </a:prstGeom>
          <a:solidFill>
            <a:schemeClr val="lt1"/>
          </a:solidFill>
          <a:ln>
            <a:noFill/>
          </a:ln>
        </p:spPr>
        <p:txBody>
          <a:bodyPr spcFirstLastPara="1" wrap="square" lIns="91425" tIns="91425" rIns="91425" bIns="91425" anchor="t" anchorCtr="0">
            <a:noAutofit/>
          </a:bodyPr>
          <a:lstStyle/>
          <a:p>
            <a:pPr marL="0" lvl="0" indent="0" algn="l" rtl="0">
              <a:spcBef>
                <a:spcPts val="0"/>
              </a:spcBef>
              <a:spcAft>
                <a:spcPts val="0"/>
              </a:spcAft>
              <a:buNone/>
            </a:pPr>
            <a:endParaRPr sz="1600">
              <a:solidFill>
                <a:schemeClr val="dk2"/>
              </a:solidFill>
              <a:latin typeface="Times New Roman"/>
              <a:ea typeface="Times New Roman"/>
              <a:cs typeface="Times New Roman"/>
              <a:sym typeface="Times New Roman"/>
            </a:endParaRPr>
          </a:p>
        </p:txBody>
      </p:sp>
      <p:sp>
        <p:nvSpPr>
          <p:cNvPr id="124" name="Google Shape;124;p23"/>
          <p:cNvSpPr txBox="1">
            <a:spLocks noGrp="1"/>
          </p:cNvSpPr>
          <p:nvPr>
            <p:ph type="body" idx="1"/>
          </p:nvPr>
        </p:nvSpPr>
        <p:spPr>
          <a:xfrm>
            <a:off x="311700" y="1152475"/>
            <a:ext cx="8520600" cy="3416400"/>
          </a:xfrm>
          <a:prstGeom prst="rect">
            <a:avLst/>
          </a:prstGeom>
          <a:ln w="9525" cap="flat" cmpd="sng">
            <a:solidFill>
              <a:schemeClr val="lt2"/>
            </a:solidFill>
            <a:prstDash val="solid"/>
            <a:round/>
            <a:headEnd type="none" w="sm" len="sm"/>
            <a:tailEnd type="none" w="sm" len="sm"/>
          </a:ln>
        </p:spPr>
        <p:txBody>
          <a:bodyPr spcFirstLastPara="1" wrap="square" lIns="91425" tIns="91425" rIns="91425" bIns="91425" anchor="t" anchorCtr="0">
            <a:normAutofit/>
          </a:bodyPr>
          <a:lstStyle/>
          <a:p>
            <a:pPr marL="457200" lvl="0" indent="-342900" algn="l" rtl="0">
              <a:spcBef>
                <a:spcPts val="0"/>
              </a:spcBef>
              <a:spcAft>
                <a:spcPts val="0"/>
              </a:spcAft>
              <a:buSzPts val="1800"/>
              <a:buFont typeface="Times New Roman"/>
              <a:buAutoNum type="arabicPeriod"/>
            </a:pPr>
            <a:r>
              <a:rPr lang="en-GB" sz="1600">
                <a:latin typeface="Times New Roman"/>
                <a:ea typeface="Times New Roman"/>
                <a:cs typeface="Times New Roman"/>
                <a:sym typeface="Times New Roman"/>
              </a:rPr>
              <a:t>Input Collection</a:t>
            </a:r>
            <a:endParaRPr sz="1600">
              <a:latin typeface="Times New Roman"/>
              <a:ea typeface="Times New Roman"/>
              <a:cs typeface="Times New Roman"/>
              <a:sym typeface="Times New Roman"/>
            </a:endParaRPr>
          </a:p>
          <a:p>
            <a:pPr marL="914400" lvl="1" indent="-330200" algn="l" rtl="0">
              <a:spcBef>
                <a:spcPts val="0"/>
              </a:spcBef>
              <a:spcAft>
                <a:spcPts val="0"/>
              </a:spcAft>
              <a:buSzPts val="1600"/>
              <a:buFont typeface="Times New Roman"/>
              <a:buAutoNum type="alphaLcPeriod"/>
            </a:pPr>
            <a:r>
              <a:rPr lang="en-GB" sz="1600">
                <a:latin typeface="Times New Roman"/>
                <a:ea typeface="Times New Roman"/>
                <a:cs typeface="Times New Roman"/>
                <a:sym typeface="Times New Roman"/>
              </a:rPr>
              <a:t>Uploads Resumes </a:t>
            </a:r>
            <a:endParaRPr sz="1600">
              <a:latin typeface="Times New Roman"/>
              <a:ea typeface="Times New Roman"/>
              <a:cs typeface="Times New Roman"/>
              <a:sym typeface="Times New Roman"/>
            </a:endParaRPr>
          </a:p>
          <a:p>
            <a:pPr marL="914400" lvl="1" indent="-330200" algn="l" rtl="0">
              <a:spcBef>
                <a:spcPts val="0"/>
              </a:spcBef>
              <a:spcAft>
                <a:spcPts val="0"/>
              </a:spcAft>
              <a:buSzPts val="1600"/>
              <a:buFont typeface="Times New Roman"/>
              <a:buAutoNum type="alphaLcPeriod"/>
            </a:pPr>
            <a:r>
              <a:rPr lang="en-GB" sz="1600">
                <a:latin typeface="Times New Roman"/>
                <a:ea typeface="Times New Roman"/>
                <a:cs typeface="Times New Roman"/>
                <a:sym typeface="Times New Roman"/>
              </a:rPr>
              <a:t>Enter Job Description</a:t>
            </a:r>
            <a:endParaRPr sz="1600">
              <a:latin typeface="Times New Roman"/>
              <a:ea typeface="Times New Roman"/>
              <a:cs typeface="Times New Roman"/>
              <a:sym typeface="Times New Roman"/>
            </a:endParaRPr>
          </a:p>
          <a:p>
            <a:pPr marL="914400" lvl="1" indent="-330200" algn="l" rtl="0">
              <a:spcBef>
                <a:spcPts val="0"/>
              </a:spcBef>
              <a:spcAft>
                <a:spcPts val="0"/>
              </a:spcAft>
              <a:buSzPts val="1600"/>
              <a:buFont typeface="Times New Roman"/>
              <a:buAutoNum type="alphaLcPeriod"/>
            </a:pPr>
            <a:r>
              <a:rPr lang="en-GB" sz="1600">
                <a:latin typeface="Times New Roman"/>
                <a:ea typeface="Times New Roman"/>
                <a:cs typeface="Times New Roman"/>
                <a:sym typeface="Times New Roman"/>
              </a:rPr>
              <a:t>Rseume.csv dataset is used to train the model.</a:t>
            </a:r>
            <a:br>
              <a:rPr lang="en-GB" sz="1600">
                <a:latin typeface="Times New Roman"/>
                <a:ea typeface="Times New Roman"/>
                <a:cs typeface="Times New Roman"/>
                <a:sym typeface="Times New Roman"/>
              </a:rPr>
            </a:br>
            <a:endParaRPr sz="1600">
              <a:latin typeface="Times New Roman"/>
              <a:ea typeface="Times New Roman"/>
              <a:cs typeface="Times New Roman"/>
              <a:sym typeface="Times New Roman"/>
            </a:endParaRPr>
          </a:p>
          <a:p>
            <a:pPr marL="457200" lvl="0" indent="-330200" algn="l" rtl="0">
              <a:spcBef>
                <a:spcPts val="0"/>
              </a:spcBef>
              <a:spcAft>
                <a:spcPts val="0"/>
              </a:spcAft>
              <a:buSzPts val="1600"/>
              <a:buFont typeface="Times New Roman"/>
              <a:buAutoNum type="arabicPeriod"/>
            </a:pPr>
            <a:r>
              <a:rPr lang="en-GB" sz="1600">
                <a:latin typeface="Times New Roman"/>
                <a:ea typeface="Times New Roman"/>
                <a:cs typeface="Times New Roman"/>
                <a:sym typeface="Times New Roman"/>
              </a:rPr>
              <a:t>Data Cleaning and Preprocessing.</a:t>
            </a:r>
            <a:endParaRPr sz="1600">
              <a:latin typeface="Times New Roman"/>
              <a:ea typeface="Times New Roman"/>
              <a:cs typeface="Times New Roman"/>
              <a:sym typeface="Times New Roman"/>
            </a:endParaRPr>
          </a:p>
          <a:p>
            <a:pPr marL="914400" lvl="1" indent="-330200" algn="l" rtl="0">
              <a:spcBef>
                <a:spcPts val="0"/>
              </a:spcBef>
              <a:spcAft>
                <a:spcPts val="0"/>
              </a:spcAft>
              <a:buSzPts val="1600"/>
              <a:buFont typeface="Times New Roman"/>
              <a:buAutoNum type="alphaLcPeriod"/>
            </a:pPr>
            <a:r>
              <a:rPr lang="en-GB" sz="1600">
                <a:latin typeface="Times New Roman"/>
                <a:ea typeface="Times New Roman"/>
                <a:cs typeface="Times New Roman"/>
                <a:sym typeface="Times New Roman"/>
              </a:rPr>
              <a:t>Lowercasing</a:t>
            </a:r>
            <a:endParaRPr sz="1600">
              <a:latin typeface="Times New Roman"/>
              <a:ea typeface="Times New Roman"/>
              <a:cs typeface="Times New Roman"/>
              <a:sym typeface="Times New Roman"/>
            </a:endParaRPr>
          </a:p>
          <a:p>
            <a:pPr marL="914400" lvl="1" indent="-330200" algn="l" rtl="0">
              <a:spcBef>
                <a:spcPts val="0"/>
              </a:spcBef>
              <a:spcAft>
                <a:spcPts val="0"/>
              </a:spcAft>
              <a:buSzPts val="1600"/>
              <a:buFont typeface="Times New Roman"/>
              <a:buAutoNum type="alphaLcPeriod"/>
            </a:pPr>
            <a:r>
              <a:rPr lang="en-GB" sz="1600">
                <a:latin typeface="Times New Roman"/>
                <a:ea typeface="Times New Roman"/>
                <a:cs typeface="Times New Roman"/>
                <a:sym typeface="Times New Roman"/>
              </a:rPr>
              <a:t>Stopword removal</a:t>
            </a:r>
            <a:endParaRPr sz="1600">
              <a:latin typeface="Times New Roman"/>
              <a:ea typeface="Times New Roman"/>
              <a:cs typeface="Times New Roman"/>
              <a:sym typeface="Times New Roman"/>
            </a:endParaRPr>
          </a:p>
          <a:p>
            <a:pPr marL="914400" lvl="1" indent="-330200" algn="l" rtl="0">
              <a:spcBef>
                <a:spcPts val="0"/>
              </a:spcBef>
              <a:spcAft>
                <a:spcPts val="0"/>
              </a:spcAft>
              <a:buSzPts val="1600"/>
              <a:buFont typeface="Times New Roman"/>
              <a:buAutoNum type="alphaLcPeriod"/>
            </a:pPr>
            <a:r>
              <a:rPr lang="en-GB" sz="1600">
                <a:latin typeface="Times New Roman"/>
                <a:ea typeface="Times New Roman"/>
                <a:cs typeface="Times New Roman"/>
                <a:sym typeface="Times New Roman"/>
              </a:rPr>
              <a:t>Lemmatization</a:t>
            </a:r>
            <a:endParaRPr sz="1600">
              <a:latin typeface="Times New Roman"/>
              <a:ea typeface="Times New Roman"/>
              <a:cs typeface="Times New Roman"/>
              <a:sym typeface="Times New Roman"/>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28"/>
        <p:cNvGrpSpPr/>
        <p:nvPr/>
      </p:nvGrpSpPr>
      <p:grpSpPr>
        <a:xfrm>
          <a:off x="0" y="0"/>
          <a:ext cx="0" cy="0"/>
          <a:chOff x="0" y="0"/>
          <a:chExt cx="0" cy="0"/>
        </a:xfrm>
      </p:grpSpPr>
      <p:sp>
        <p:nvSpPr>
          <p:cNvPr id="129" name="Google Shape;129;p24"/>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GB">
                <a:latin typeface="Times New Roman"/>
                <a:ea typeface="Times New Roman"/>
                <a:cs typeface="Times New Roman"/>
                <a:sym typeface="Times New Roman"/>
              </a:rPr>
              <a:t>Algorithm</a:t>
            </a:r>
            <a:endParaRPr>
              <a:latin typeface="Times New Roman"/>
              <a:ea typeface="Times New Roman"/>
              <a:cs typeface="Times New Roman"/>
              <a:sym typeface="Times New Roman"/>
            </a:endParaRPr>
          </a:p>
        </p:txBody>
      </p:sp>
      <p:sp>
        <p:nvSpPr>
          <p:cNvPr id="130" name="Google Shape;130;p24"/>
          <p:cNvSpPr txBox="1">
            <a:spLocks noGrp="1"/>
          </p:cNvSpPr>
          <p:nvPr>
            <p:ph type="body" idx="1"/>
          </p:nvPr>
        </p:nvSpPr>
        <p:spPr>
          <a:xfrm>
            <a:off x="311700" y="1152475"/>
            <a:ext cx="8520600" cy="3644100"/>
          </a:xfrm>
          <a:prstGeom prst="rect">
            <a:avLst/>
          </a:prstGeom>
          <a:ln w="9525" cap="flat" cmpd="sng">
            <a:solidFill>
              <a:schemeClr val="lt2"/>
            </a:solidFill>
            <a:prstDash val="solid"/>
            <a:round/>
            <a:headEnd type="none" w="sm" len="sm"/>
            <a:tailEnd type="none" w="sm" len="sm"/>
          </a:ln>
        </p:spPr>
        <p:txBody>
          <a:bodyPr spcFirstLastPara="1" wrap="square" lIns="91425" tIns="91425" rIns="91425" bIns="91425" anchor="t" anchorCtr="0">
            <a:noAutofit/>
          </a:bodyPr>
          <a:lstStyle/>
          <a:p>
            <a:pPr marL="0" lvl="0" indent="0" algn="l" rtl="0">
              <a:spcBef>
                <a:spcPts val="0"/>
              </a:spcBef>
              <a:spcAft>
                <a:spcPts val="0"/>
              </a:spcAft>
              <a:buNone/>
            </a:pPr>
            <a:r>
              <a:rPr lang="en-GB" sz="1600">
                <a:latin typeface="Times New Roman"/>
                <a:ea typeface="Times New Roman"/>
                <a:cs typeface="Times New Roman"/>
                <a:sym typeface="Times New Roman"/>
              </a:rPr>
              <a:t>3. Feature Extraction </a:t>
            </a:r>
            <a:endParaRPr sz="1600">
              <a:latin typeface="Times New Roman"/>
              <a:ea typeface="Times New Roman"/>
              <a:cs typeface="Times New Roman"/>
              <a:sym typeface="Times New Roman"/>
            </a:endParaRPr>
          </a:p>
          <a:p>
            <a:pPr marL="0" lvl="0" indent="0" algn="l" rtl="0">
              <a:spcBef>
                <a:spcPts val="0"/>
              </a:spcBef>
              <a:spcAft>
                <a:spcPts val="0"/>
              </a:spcAft>
              <a:buNone/>
            </a:pPr>
            <a:r>
              <a:rPr lang="en-GB" sz="1600">
                <a:latin typeface="Times New Roman"/>
                <a:ea typeface="Times New Roman"/>
                <a:cs typeface="Times New Roman"/>
                <a:sym typeface="Times New Roman"/>
              </a:rPr>
              <a:t>	TF-IDF Vectorization : assigns weights to terms based on their importance </a:t>
            </a:r>
            <a:endParaRPr sz="1600">
              <a:latin typeface="Times New Roman"/>
              <a:ea typeface="Times New Roman"/>
              <a:cs typeface="Times New Roman"/>
              <a:sym typeface="Times New Roman"/>
            </a:endParaRPr>
          </a:p>
          <a:p>
            <a:pPr marL="0" lvl="0" indent="457200" algn="l" rtl="0">
              <a:spcBef>
                <a:spcPts val="0"/>
              </a:spcBef>
              <a:spcAft>
                <a:spcPts val="0"/>
              </a:spcAft>
              <a:buNone/>
            </a:pPr>
            <a:r>
              <a:rPr lang="en-GB" sz="1600">
                <a:latin typeface="Times New Roman"/>
                <a:ea typeface="Times New Roman"/>
                <a:cs typeface="Times New Roman"/>
                <a:sym typeface="Times New Roman"/>
              </a:rPr>
              <a:t>within a document relative to the entire dataset.</a:t>
            </a:r>
            <a:endParaRPr sz="1600">
              <a:latin typeface="Times New Roman"/>
              <a:ea typeface="Times New Roman"/>
              <a:cs typeface="Times New Roman"/>
              <a:sym typeface="Times New Roman"/>
            </a:endParaRPr>
          </a:p>
          <a:p>
            <a:pPr marL="0" lvl="0" indent="457200" algn="l" rtl="0">
              <a:spcBef>
                <a:spcPts val="0"/>
              </a:spcBef>
              <a:spcAft>
                <a:spcPts val="0"/>
              </a:spcAft>
              <a:buNone/>
            </a:pPr>
            <a:endParaRPr sz="1200">
              <a:solidFill>
                <a:schemeClr val="dk1"/>
              </a:solidFill>
              <a:latin typeface="Times New Roman"/>
              <a:ea typeface="Times New Roman"/>
              <a:cs typeface="Times New Roman"/>
              <a:sym typeface="Times New Roman"/>
            </a:endParaRPr>
          </a:p>
          <a:p>
            <a:pPr marL="0" lvl="0" indent="457200" algn="l" rtl="0">
              <a:spcBef>
                <a:spcPts val="0"/>
              </a:spcBef>
              <a:spcAft>
                <a:spcPts val="0"/>
              </a:spcAft>
              <a:buNone/>
            </a:pPr>
            <a:endParaRPr sz="1200">
              <a:solidFill>
                <a:schemeClr val="dk1"/>
              </a:solidFill>
              <a:latin typeface="Times New Roman"/>
              <a:ea typeface="Times New Roman"/>
              <a:cs typeface="Times New Roman"/>
              <a:sym typeface="Times New Roman"/>
            </a:endParaRPr>
          </a:p>
          <a:p>
            <a:pPr marL="0" lvl="0" indent="0" algn="l" rtl="0">
              <a:spcBef>
                <a:spcPts val="0"/>
              </a:spcBef>
              <a:spcAft>
                <a:spcPts val="0"/>
              </a:spcAft>
              <a:buNone/>
            </a:pPr>
            <a:endParaRPr sz="1600">
              <a:solidFill>
                <a:schemeClr val="dk1"/>
              </a:solidFill>
              <a:latin typeface="Times New Roman"/>
              <a:ea typeface="Times New Roman"/>
              <a:cs typeface="Times New Roman"/>
              <a:sym typeface="Times New Roman"/>
            </a:endParaRPr>
          </a:p>
          <a:p>
            <a:pPr marL="0" lvl="0" indent="0" algn="l" rtl="0">
              <a:spcBef>
                <a:spcPts val="0"/>
              </a:spcBef>
              <a:spcAft>
                <a:spcPts val="0"/>
              </a:spcAft>
              <a:buNone/>
            </a:pPr>
            <a:r>
              <a:rPr lang="en-GB" sz="1600">
                <a:latin typeface="Times New Roman"/>
                <a:ea typeface="Times New Roman"/>
                <a:cs typeface="Times New Roman"/>
                <a:sym typeface="Times New Roman"/>
              </a:rPr>
              <a:t>4. Model Training and Classification: </a:t>
            </a:r>
            <a:endParaRPr sz="1600">
              <a:latin typeface="Times New Roman"/>
              <a:ea typeface="Times New Roman"/>
              <a:cs typeface="Times New Roman"/>
              <a:sym typeface="Times New Roman"/>
            </a:endParaRPr>
          </a:p>
          <a:p>
            <a:pPr marL="0" lvl="0" indent="0" algn="l" rtl="0">
              <a:spcBef>
                <a:spcPts val="0"/>
              </a:spcBef>
              <a:spcAft>
                <a:spcPts val="0"/>
              </a:spcAft>
              <a:buNone/>
            </a:pPr>
            <a:r>
              <a:rPr lang="en-GB" sz="1600">
                <a:latin typeface="Times New Roman"/>
                <a:ea typeface="Times New Roman"/>
                <a:cs typeface="Times New Roman"/>
                <a:sym typeface="Times New Roman"/>
              </a:rPr>
              <a:t>	Learns patterns from skills, keywords and experience.</a:t>
            </a:r>
            <a:endParaRPr sz="1600">
              <a:latin typeface="Times New Roman"/>
              <a:ea typeface="Times New Roman"/>
              <a:cs typeface="Times New Roman"/>
              <a:sym typeface="Times New Roman"/>
            </a:endParaRPr>
          </a:p>
          <a:p>
            <a:pPr marL="0" lvl="0" indent="0" algn="l" rtl="0">
              <a:spcBef>
                <a:spcPts val="0"/>
              </a:spcBef>
              <a:spcAft>
                <a:spcPts val="0"/>
              </a:spcAft>
              <a:buNone/>
            </a:pPr>
            <a:r>
              <a:rPr lang="en-GB" sz="1600">
                <a:latin typeface="Times New Roman"/>
                <a:ea typeface="Times New Roman"/>
                <a:cs typeface="Times New Roman"/>
                <a:sym typeface="Times New Roman"/>
              </a:rPr>
              <a:t>	Trained on labeled resume dataset</a:t>
            </a:r>
            <a:endParaRPr sz="1600">
              <a:latin typeface="Times New Roman"/>
              <a:ea typeface="Times New Roman"/>
              <a:cs typeface="Times New Roman"/>
              <a:sym typeface="Times New Roman"/>
            </a:endParaRPr>
          </a:p>
          <a:p>
            <a:pPr marL="0" lvl="0" indent="0" algn="l" rtl="0">
              <a:spcBef>
                <a:spcPts val="0"/>
              </a:spcBef>
              <a:spcAft>
                <a:spcPts val="0"/>
              </a:spcAft>
              <a:buNone/>
            </a:pPr>
            <a:r>
              <a:rPr lang="en-GB" sz="1600">
                <a:latin typeface="Times New Roman"/>
                <a:ea typeface="Times New Roman"/>
                <a:cs typeface="Times New Roman"/>
                <a:sym typeface="Times New Roman"/>
              </a:rPr>
              <a:t>	Algorithms Used :</a:t>
            </a:r>
            <a:endParaRPr sz="1600">
              <a:latin typeface="Times New Roman"/>
              <a:ea typeface="Times New Roman"/>
              <a:cs typeface="Times New Roman"/>
              <a:sym typeface="Times New Roman"/>
            </a:endParaRPr>
          </a:p>
          <a:p>
            <a:pPr marL="914400" lvl="0" indent="-330200" algn="l" rtl="0">
              <a:spcBef>
                <a:spcPts val="0"/>
              </a:spcBef>
              <a:spcAft>
                <a:spcPts val="0"/>
              </a:spcAft>
              <a:buSzPts val="1600"/>
              <a:buFont typeface="Times New Roman"/>
              <a:buAutoNum type="alphaLcPeriod"/>
            </a:pPr>
            <a:r>
              <a:rPr lang="en-GB" sz="1600">
                <a:latin typeface="Times New Roman"/>
                <a:ea typeface="Times New Roman"/>
                <a:cs typeface="Times New Roman"/>
                <a:sym typeface="Times New Roman"/>
              </a:rPr>
              <a:t>Naive Bayes</a:t>
            </a:r>
            <a:endParaRPr sz="1600">
              <a:latin typeface="Times New Roman"/>
              <a:ea typeface="Times New Roman"/>
              <a:cs typeface="Times New Roman"/>
              <a:sym typeface="Times New Roman"/>
            </a:endParaRPr>
          </a:p>
          <a:p>
            <a:pPr marL="914400" lvl="0" indent="-330200" algn="l" rtl="0">
              <a:spcBef>
                <a:spcPts val="0"/>
              </a:spcBef>
              <a:spcAft>
                <a:spcPts val="0"/>
              </a:spcAft>
              <a:buSzPts val="1600"/>
              <a:buFont typeface="Times New Roman"/>
              <a:buAutoNum type="alphaLcPeriod"/>
            </a:pPr>
            <a:r>
              <a:rPr lang="en-GB" sz="1600">
                <a:latin typeface="Times New Roman"/>
                <a:ea typeface="Times New Roman"/>
                <a:cs typeface="Times New Roman"/>
                <a:sym typeface="Times New Roman"/>
              </a:rPr>
              <a:t>Logistic Regression</a:t>
            </a:r>
            <a:endParaRPr sz="1600">
              <a:latin typeface="Times New Roman"/>
              <a:ea typeface="Times New Roman"/>
              <a:cs typeface="Times New Roman"/>
              <a:sym typeface="Times New Roman"/>
            </a:endParaRPr>
          </a:p>
          <a:p>
            <a:pPr marL="914400" lvl="0" indent="-330200" algn="l" rtl="0">
              <a:spcBef>
                <a:spcPts val="0"/>
              </a:spcBef>
              <a:spcAft>
                <a:spcPts val="0"/>
              </a:spcAft>
              <a:buSzPts val="1600"/>
              <a:buFont typeface="Times New Roman"/>
              <a:buAutoNum type="alphaLcPeriod"/>
            </a:pPr>
            <a:r>
              <a:rPr lang="en-GB" sz="1600">
                <a:latin typeface="Times New Roman"/>
                <a:ea typeface="Times New Roman"/>
                <a:cs typeface="Times New Roman"/>
                <a:sym typeface="Times New Roman"/>
              </a:rPr>
              <a:t>Linear Support Vector Machine</a:t>
            </a:r>
            <a:endParaRPr sz="1600">
              <a:latin typeface="Times New Roman"/>
              <a:ea typeface="Times New Roman"/>
              <a:cs typeface="Times New Roman"/>
              <a:sym typeface="Times New Roman"/>
            </a:endParaRPr>
          </a:p>
        </p:txBody>
      </p:sp>
      <p:pic>
        <p:nvPicPr>
          <p:cNvPr id="131" name="Google Shape;131;p24"/>
          <p:cNvPicPr preferRelativeResize="0"/>
          <p:nvPr/>
        </p:nvPicPr>
        <p:blipFill>
          <a:blip r:embed="rId3">
            <a:alphaModFix/>
          </a:blip>
          <a:stretch>
            <a:fillRect/>
          </a:stretch>
        </p:blipFill>
        <p:spPr>
          <a:xfrm>
            <a:off x="1016575" y="2108050"/>
            <a:ext cx="2781300" cy="581025"/>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BA43D4-D403-0B01-E840-0DBC44BCEBEE}"/>
              </a:ext>
            </a:extLst>
          </p:cNvPr>
          <p:cNvSpPr>
            <a:spLocks noGrp="1"/>
          </p:cNvSpPr>
          <p:nvPr>
            <p:ph type="title"/>
          </p:nvPr>
        </p:nvSpPr>
        <p:spPr/>
        <p:txBody>
          <a:bodyPr>
            <a:normAutofit fontScale="90000"/>
          </a:bodyPr>
          <a:lstStyle/>
          <a:p>
            <a:r>
              <a:rPr lang="en-IN" dirty="0">
                <a:latin typeface="Times New Roman" panose="02020603050405020304" pitchFamily="18" charset="0"/>
                <a:cs typeface="Times New Roman" panose="02020603050405020304" pitchFamily="18" charset="0"/>
              </a:rPr>
              <a:t>Algorithm</a:t>
            </a:r>
          </a:p>
        </p:txBody>
      </p:sp>
      <p:sp>
        <p:nvSpPr>
          <p:cNvPr id="3" name="Text Placeholder 2">
            <a:extLst>
              <a:ext uri="{FF2B5EF4-FFF2-40B4-BE49-F238E27FC236}">
                <a16:creationId xmlns:a16="http://schemas.microsoft.com/office/drawing/2014/main" id="{F814F524-C04A-4588-B994-1EF2315283CB}"/>
              </a:ext>
            </a:extLst>
          </p:cNvPr>
          <p:cNvSpPr>
            <a:spLocks noGrp="1"/>
          </p:cNvSpPr>
          <p:nvPr>
            <p:ph type="body" idx="1"/>
          </p:nvPr>
        </p:nvSpPr>
        <p:spPr/>
        <p:txBody>
          <a:bodyPr>
            <a:normAutofit/>
          </a:bodyPr>
          <a:lstStyle/>
          <a:p>
            <a:pPr marL="285750" indent="-285750" eaLnBrk="0" fontAlgn="base" hangingPunct="0">
              <a:lnSpc>
                <a:spcPct val="100000"/>
              </a:lnSpc>
              <a:spcBef>
                <a:spcPct val="0"/>
              </a:spcBef>
              <a:spcAft>
                <a:spcPct val="0"/>
              </a:spcAft>
              <a:buClrTx/>
              <a:buSzTx/>
            </a:pPr>
            <a:r>
              <a:rPr lang="en-IN" sz="1600" dirty="0">
                <a:solidFill>
                  <a:schemeClr val="bg2"/>
                </a:solidFill>
                <a:latin typeface="Times New Roman" panose="02020603050405020304" pitchFamily="18" charset="0"/>
                <a:cs typeface="Times New Roman" panose="02020603050405020304" pitchFamily="18" charset="0"/>
              </a:rPr>
              <a:t>Naïve Bayes:</a:t>
            </a:r>
            <a:br>
              <a:rPr lang="en-IN" sz="1600" dirty="0">
                <a:solidFill>
                  <a:schemeClr val="bg2"/>
                </a:solidFill>
                <a:latin typeface="Times New Roman" panose="02020603050405020304" pitchFamily="18" charset="0"/>
                <a:cs typeface="Times New Roman" panose="02020603050405020304" pitchFamily="18" charset="0"/>
              </a:rPr>
            </a:br>
            <a:r>
              <a:rPr lang="en-US" altLang="en-US" sz="1600" dirty="0">
                <a:solidFill>
                  <a:schemeClr val="bg2"/>
                </a:solidFill>
                <a:latin typeface="Times New Roman" panose="02020603050405020304" pitchFamily="18" charset="0"/>
                <a:cs typeface="Times New Roman" panose="02020603050405020304" pitchFamily="18" charset="0"/>
              </a:rPr>
              <a:t>Calculates probability of a resume belonging to each category </a:t>
            </a:r>
          </a:p>
          <a:p>
            <a:pPr marL="0" indent="0" eaLnBrk="0" fontAlgn="base" hangingPunct="0">
              <a:lnSpc>
                <a:spcPct val="100000"/>
              </a:lnSpc>
              <a:spcBef>
                <a:spcPct val="0"/>
              </a:spcBef>
              <a:spcAft>
                <a:spcPct val="0"/>
              </a:spcAft>
              <a:buClrTx/>
              <a:buSzTx/>
              <a:buNone/>
            </a:pPr>
            <a:r>
              <a:rPr lang="en-US" altLang="en-US" sz="1600" dirty="0">
                <a:solidFill>
                  <a:schemeClr val="bg2"/>
                </a:solidFill>
                <a:latin typeface="Times New Roman" panose="02020603050405020304" pitchFamily="18" charset="0"/>
                <a:cs typeface="Times New Roman" panose="02020603050405020304" pitchFamily="18" charset="0"/>
              </a:rPr>
              <a:t>     Chooses the category with highest probability </a:t>
            </a:r>
          </a:p>
          <a:p>
            <a:pPr marL="114300" indent="0">
              <a:buNone/>
            </a:pPr>
            <a:endParaRPr lang="en-IN" sz="1600" dirty="0">
              <a:latin typeface="Times New Roman" panose="02020603050405020304" pitchFamily="18" charset="0"/>
              <a:cs typeface="Times New Roman" panose="02020603050405020304" pitchFamily="18" charset="0"/>
            </a:endParaRPr>
          </a:p>
          <a:p>
            <a:pPr marL="114300" indent="0">
              <a:buNone/>
            </a:pPr>
            <a:endParaRPr lang="en-IN" sz="1600" dirty="0">
              <a:latin typeface="Times New Roman" panose="02020603050405020304" pitchFamily="18" charset="0"/>
              <a:cs typeface="Times New Roman" panose="02020603050405020304" pitchFamily="18" charset="0"/>
            </a:endParaRPr>
          </a:p>
          <a:p>
            <a:pPr marL="114300" indent="0">
              <a:buNone/>
            </a:pPr>
            <a:endParaRPr lang="en-IN" sz="1600" dirty="0">
              <a:latin typeface="Times New Roman" panose="02020603050405020304" pitchFamily="18" charset="0"/>
              <a:cs typeface="Times New Roman" panose="02020603050405020304" pitchFamily="18" charset="0"/>
            </a:endParaRPr>
          </a:p>
          <a:p>
            <a:r>
              <a:rPr lang="en-IN" sz="1600" dirty="0">
                <a:latin typeface="Times New Roman" panose="02020603050405020304" pitchFamily="18" charset="0"/>
                <a:cs typeface="Times New Roman" panose="02020603050405020304" pitchFamily="18" charset="0"/>
              </a:rPr>
              <a:t>Logistic regression:</a:t>
            </a:r>
          </a:p>
          <a:p>
            <a:pPr marL="0" lvl="0" indent="0" eaLnBrk="0" fontAlgn="base" hangingPunct="0">
              <a:lnSpc>
                <a:spcPct val="100000"/>
              </a:lnSpc>
              <a:spcBef>
                <a:spcPct val="0"/>
              </a:spcBef>
              <a:spcAft>
                <a:spcPct val="0"/>
              </a:spcAft>
              <a:buClrTx/>
              <a:buSzTx/>
              <a:buNone/>
            </a:pPr>
            <a:r>
              <a:rPr lang="en-US" altLang="en-US" sz="1600" dirty="0">
                <a:solidFill>
                  <a:schemeClr val="bg2"/>
                </a:solidFill>
                <a:latin typeface="Times New Roman" panose="02020603050405020304" pitchFamily="18" charset="0"/>
                <a:cs typeface="Times New Roman" panose="02020603050405020304" pitchFamily="18" charset="0"/>
              </a:rPr>
              <a:t>        Takes weighted sum of input features </a:t>
            </a:r>
          </a:p>
          <a:p>
            <a:pPr marL="0" lvl="0" indent="0" eaLnBrk="0" fontAlgn="base" hangingPunct="0">
              <a:lnSpc>
                <a:spcPct val="100000"/>
              </a:lnSpc>
              <a:spcBef>
                <a:spcPct val="0"/>
              </a:spcBef>
              <a:spcAft>
                <a:spcPct val="0"/>
              </a:spcAft>
              <a:buClrTx/>
              <a:buSzTx/>
              <a:buNone/>
            </a:pPr>
            <a:r>
              <a:rPr lang="en-US" altLang="en-US" sz="1600" dirty="0">
                <a:solidFill>
                  <a:schemeClr val="bg2"/>
                </a:solidFill>
                <a:latin typeface="Times New Roman" panose="02020603050405020304" pitchFamily="18" charset="0"/>
                <a:cs typeface="Times New Roman" panose="02020603050405020304" pitchFamily="18" charset="0"/>
              </a:rPr>
              <a:t>        Applies </a:t>
            </a:r>
            <a:r>
              <a:rPr lang="en-US" altLang="en-US" sz="1600" b="1" dirty="0">
                <a:solidFill>
                  <a:schemeClr val="bg2"/>
                </a:solidFill>
                <a:latin typeface="Times New Roman" panose="02020603050405020304" pitchFamily="18" charset="0"/>
                <a:cs typeface="Times New Roman" panose="02020603050405020304" pitchFamily="18" charset="0"/>
              </a:rPr>
              <a:t>sigmoid function</a:t>
            </a:r>
            <a:r>
              <a:rPr lang="en-US" altLang="en-US" sz="1600" dirty="0">
                <a:solidFill>
                  <a:schemeClr val="bg2"/>
                </a:solidFill>
                <a:latin typeface="Times New Roman" panose="02020603050405020304" pitchFamily="18" charset="0"/>
                <a:cs typeface="Times New Roman" panose="02020603050405020304" pitchFamily="18" charset="0"/>
              </a:rPr>
              <a:t> </a:t>
            </a:r>
          </a:p>
          <a:p>
            <a:pPr marL="0" lvl="0" indent="0" eaLnBrk="0" fontAlgn="base" hangingPunct="0">
              <a:lnSpc>
                <a:spcPct val="100000"/>
              </a:lnSpc>
              <a:spcBef>
                <a:spcPct val="0"/>
              </a:spcBef>
              <a:spcAft>
                <a:spcPct val="0"/>
              </a:spcAft>
              <a:buClrTx/>
              <a:buSzTx/>
              <a:buNone/>
            </a:pPr>
            <a:r>
              <a:rPr lang="en-US" altLang="en-US" sz="1600" dirty="0">
                <a:solidFill>
                  <a:schemeClr val="bg2"/>
                </a:solidFill>
                <a:latin typeface="Times New Roman" panose="02020603050405020304" pitchFamily="18" charset="0"/>
                <a:cs typeface="Times New Roman" panose="02020603050405020304" pitchFamily="18" charset="0"/>
              </a:rPr>
              <a:t>        Outputs probability between 0 and 1 </a:t>
            </a:r>
          </a:p>
          <a:p>
            <a:pPr marL="114300" indent="0">
              <a:buNone/>
            </a:pPr>
            <a:endParaRPr lang="en-IN" sz="1600" dirty="0">
              <a:latin typeface="Times New Roman" panose="02020603050405020304" pitchFamily="18" charset="0"/>
              <a:cs typeface="Times New Roman" panose="02020603050405020304" pitchFamily="18" charset="0"/>
            </a:endParaRPr>
          </a:p>
        </p:txBody>
      </p:sp>
      <p:pic>
        <p:nvPicPr>
          <p:cNvPr id="9" name="Picture 8">
            <a:extLst>
              <a:ext uri="{FF2B5EF4-FFF2-40B4-BE49-F238E27FC236}">
                <a16:creationId xmlns:a16="http://schemas.microsoft.com/office/drawing/2014/main" id="{FA4ED98C-155A-CCF7-1D01-7C573B187A6D}"/>
              </a:ext>
            </a:extLst>
          </p:cNvPr>
          <p:cNvPicPr>
            <a:picLocks noChangeAspect="1"/>
          </p:cNvPicPr>
          <p:nvPr/>
        </p:nvPicPr>
        <p:blipFill>
          <a:blip r:embed="rId2"/>
          <a:stretch>
            <a:fillRect/>
          </a:stretch>
        </p:blipFill>
        <p:spPr>
          <a:xfrm>
            <a:off x="2276030" y="2137372"/>
            <a:ext cx="1470787" cy="434378"/>
          </a:xfrm>
          <a:prstGeom prst="rect">
            <a:avLst/>
          </a:prstGeom>
        </p:spPr>
      </p:pic>
      <p:pic>
        <p:nvPicPr>
          <p:cNvPr id="14" name="Picture 13">
            <a:extLst>
              <a:ext uri="{FF2B5EF4-FFF2-40B4-BE49-F238E27FC236}">
                <a16:creationId xmlns:a16="http://schemas.microsoft.com/office/drawing/2014/main" id="{4DE21729-FACC-A92B-A0BC-4615307A3802}"/>
              </a:ext>
            </a:extLst>
          </p:cNvPr>
          <p:cNvPicPr>
            <a:picLocks noChangeAspect="1"/>
          </p:cNvPicPr>
          <p:nvPr/>
        </p:nvPicPr>
        <p:blipFill>
          <a:blip r:embed="rId3"/>
          <a:stretch>
            <a:fillRect/>
          </a:stretch>
        </p:blipFill>
        <p:spPr>
          <a:xfrm>
            <a:off x="2276030" y="3887698"/>
            <a:ext cx="1440305" cy="586791"/>
          </a:xfrm>
          <a:prstGeom prst="rect">
            <a:avLst/>
          </a:prstGeom>
        </p:spPr>
      </p:pic>
    </p:spTree>
    <p:extLst>
      <p:ext uri="{BB962C8B-B14F-4D97-AF65-F5344CB8AC3E}">
        <p14:creationId xmlns:p14="http://schemas.microsoft.com/office/powerpoint/2010/main" val="127344196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D412D4-0047-7FC5-4D24-9558CCE8A360}"/>
              </a:ext>
            </a:extLst>
          </p:cNvPr>
          <p:cNvSpPr>
            <a:spLocks noGrp="1"/>
          </p:cNvSpPr>
          <p:nvPr>
            <p:ph type="title"/>
          </p:nvPr>
        </p:nvSpPr>
        <p:spPr/>
        <p:txBody>
          <a:bodyPr>
            <a:normAutofit fontScale="90000"/>
          </a:bodyPr>
          <a:lstStyle/>
          <a:p>
            <a:r>
              <a:rPr lang="en-IN" dirty="0">
                <a:latin typeface="Times New Roman" panose="02020603050405020304" pitchFamily="18" charset="0"/>
                <a:cs typeface="Times New Roman" panose="02020603050405020304" pitchFamily="18" charset="0"/>
              </a:rPr>
              <a:t>Algorithm</a:t>
            </a:r>
          </a:p>
        </p:txBody>
      </p:sp>
      <p:sp>
        <p:nvSpPr>
          <p:cNvPr id="3" name="Text Placeholder 2">
            <a:extLst>
              <a:ext uri="{FF2B5EF4-FFF2-40B4-BE49-F238E27FC236}">
                <a16:creationId xmlns:a16="http://schemas.microsoft.com/office/drawing/2014/main" id="{EE1E2544-E490-CC1B-7A57-E4D60F1AFD44}"/>
              </a:ext>
            </a:extLst>
          </p:cNvPr>
          <p:cNvSpPr>
            <a:spLocks noGrp="1"/>
          </p:cNvSpPr>
          <p:nvPr>
            <p:ph type="body" idx="1"/>
          </p:nvPr>
        </p:nvSpPr>
        <p:spPr/>
        <p:txBody>
          <a:bodyPr>
            <a:normAutofit lnSpcReduction="10000"/>
          </a:bodyPr>
          <a:lstStyle/>
          <a:p>
            <a:r>
              <a:rPr lang="en-IN" sz="1600" dirty="0">
                <a:latin typeface="Times New Roman" panose="02020603050405020304" pitchFamily="18" charset="0"/>
                <a:cs typeface="Times New Roman" panose="02020603050405020304" pitchFamily="18" charset="0"/>
              </a:rPr>
              <a:t>Linear Support Vector Machine</a:t>
            </a:r>
          </a:p>
          <a:p>
            <a:pPr marL="114300" indent="0">
              <a:buNone/>
            </a:pPr>
            <a:r>
              <a:rPr lang="en-US" sz="1600" dirty="0">
                <a:latin typeface="Times New Roman" panose="02020603050405020304" pitchFamily="18" charset="0"/>
                <a:cs typeface="Times New Roman" panose="02020603050405020304" pitchFamily="18" charset="0"/>
              </a:rPr>
              <a:t>      Works by finding the optimal hyperplane that separates different classes with    the maximum margin.</a:t>
            </a:r>
          </a:p>
          <a:p>
            <a:pPr marL="114300" indent="0">
              <a:buNone/>
            </a:pPr>
            <a:endParaRPr lang="en-US" sz="1600" dirty="0">
              <a:latin typeface="Times New Roman" panose="02020603050405020304" pitchFamily="18" charset="0"/>
              <a:cs typeface="Times New Roman" panose="02020603050405020304" pitchFamily="18" charset="0"/>
            </a:endParaRPr>
          </a:p>
          <a:p>
            <a:pPr marL="114300" indent="0">
              <a:buNone/>
            </a:pPr>
            <a:r>
              <a:rPr lang="en-US" sz="1600" dirty="0">
                <a:latin typeface="Times New Roman" panose="02020603050405020304" pitchFamily="18" charset="0"/>
                <a:cs typeface="Times New Roman" panose="02020603050405020304" pitchFamily="18" charset="0"/>
              </a:rPr>
              <a:t>Where, w : weights</a:t>
            </a:r>
          </a:p>
          <a:p>
            <a:pPr marL="114300" indent="0">
              <a:buNone/>
            </a:pPr>
            <a:r>
              <a:rPr lang="en-US" sz="1600" dirty="0">
                <a:latin typeface="Times New Roman" panose="02020603050405020304" pitchFamily="18" charset="0"/>
                <a:cs typeface="Times New Roman" panose="02020603050405020304" pitchFamily="18" charset="0"/>
              </a:rPr>
              <a:t>x: input features(TF-IDF values)</a:t>
            </a:r>
          </a:p>
          <a:p>
            <a:pPr marL="114300" indent="0">
              <a:buNone/>
            </a:pPr>
            <a:r>
              <a:rPr lang="en-US" sz="1600" dirty="0">
                <a:latin typeface="Times New Roman" panose="02020603050405020304" pitchFamily="18" charset="0"/>
                <a:cs typeface="Times New Roman" panose="02020603050405020304" pitchFamily="18" charset="0"/>
              </a:rPr>
              <a:t>b: bias</a:t>
            </a:r>
          </a:p>
          <a:p>
            <a:pPr marL="114300" indent="0">
              <a:buNone/>
            </a:pPr>
            <a:endParaRPr lang="en-US" sz="1600" dirty="0">
              <a:latin typeface="Times New Roman" panose="02020603050405020304" pitchFamily="18" charset="0"/>
              <a:cs typeface="Times New Roman" panose="02020603050405020304" pitchFamily="18" charset="0"/>
            </a:endParaRPr>
          </a:p>
          <a:p>
            <a:pPr marL="114300" indent="0">
              <a:buNone/>
            </a:pPr>
            <a:r>
              <a:rPr lang="en-US" sz="1600" dirty="0">
                <a:latin typeface="Times New Roman" panose="02020603050405020304" pitchFamily="18" charset="0"/>
                <a:cs typeface="Times New Roman" panose="02020603050405020304" pitchFamily="18" charset="0"/>
              </a:rPr>
              <a:t>Advantages:</a:t>
            </a:r>
            <a:endParaRPr lang="en-US" altLang="en-US" sz="1600" dirty="0">
              <a:solidFill>
                <a:schemeClr val="tx1"/>
              </a:solidFill>
              <a:latin typeface="Times New Roman" panose="02020603050405020304" pitchFamily="18" charset="0"/>
              <a:cs typeface="Times New Roman" panose="02020603050405020304" pitchFamily="18" charset="0"/>
            </a:endParaRPr>
          </a:p>
          <a:p>
            <a:pPr marL="457200" lvl="1" indent="0" eaLnBrk="0" fontAlgn="base" hangingPunct="0">
              <a:lnSpc>
                <a:spcPct val="100000"/>
              </a:lnSpc>
              <a:spcBef>
                <a:spcPct val="0"/>
              </a:spcBef>
              <a:spcAft>
                <a:spcPct val="0"/>
              </a:spcAft>
              <a:buClrTx/>
              <a:buSzTx/>
              <a:buFontTx/>
              <a:buChar char="•"/>
            </a:pPr>
            <a:r>
              <a:rPr lang="en-US" altLang="en-US" sz="1600" dirty="0">
                <a:solidFill>
                  <a:schemeClr val="bg2"/>
                </a:solidFill>
                <a:latin typeface="Times New Roman" panose="02020603050405020304" pitchFamily="18" charset="0"/>
                <a:cs typeface="Times New Roman" panose="02020603050405020304" pitchFamily="18" charset="0"/>
              </a:rPr>
              <a:t>Works well with </a:t>
            </a:r>
            <a:r>
              <a:rPr lang="en-US" altLang="en-US" sz="1600" b="1" dirty="0">
                <a:solidFill>
                  <a:schemeClr val="bg2"/>
                </a:solidFill>
                <a:latin typeface="Times New Roman" panose="02020603050405020304" pitchFamily="18" charset="0"/>
                <a:cs typeface="Times New Roman" panose="02020603050405020304" pitchFamily="18" charset="0"/>
              </a:rPr>
              <a:t>high-dimensional data (TF-IDF)</a:t>
            </a:r>
            <a:r>
              <a:rPr lang="en-US" altLang="en-US" sz="1600" dirty="0">
                <a:solidFill>
                  <a:schemeClr val="bg2"/>
                </a:solidFill>
                <a:latin typeface="Times New Roman" panose="02020603050405020304" pitchFamily="18" charset="0"/>
                <a:cs typeface="Times New Roman" panose="02020603050405020304" pitchFamily="18" charset="0"/>
              </a:rPr>
              <a:t> </a:t>
            </a:r>
          </a:p>
          <a:p>
            <a:pPr marL="457200" lvl="1" indent="0" eaLnBrk="0" fontAlgn="base" hangingPunct="0">
              <a:lnSpc>
                <a:spcPct val="100000"/>
              </a:lnSpc>
              <a:spcBef>
                <a:spcPct val="0"/>
              </a:spcBef>
              <a:spcAft>
                <a:spcPct val="0"/>
              </a:spcAft>
              <a:buClrTx/>
              <a:buSzTx/>
              <a:buFontTx/>
              <a:buChar char="•"/>
            </a:pPr>
            <a:r>
              <a:rPr lang="en-US" altLang="en-US" sz="1600" dirty="0">
                <a:solidFill>
                  <a:schemeClr val="bg2"/>
                </a:solidFill>
                <a:latin typeface="Times New Roman" panose="02020603050405020304" pitchFamily="18" charset="0"/>
                <a:cs typeface="Times New Roman" panose="02020603050405020304" pitchFamily="18" charset="0"/>
              </a:rPr>
              <a:t>Effective even when features &gt; samples </a:t>
            </a:r>
          </a:p>
          <a:p>
            <a:pPr marL="457200" lvl="1" indent="0" eaLnBrk="0" fontAlgn="base" hangingPunct="0">
              <a:lnSpc>
                <a:spcPct val="100000"/>
              </a:lnSpc>
              <a:spcBef>
                <a:spcPct val="0"/>
              </a:spcBef>
              <a:spcAft>
                <a:spcPct val="0"/>
              </a:spcAft>
              <a:buClrTx/>
              <a:buSzTx/>
              <a:buFontTx/>
              <a:buChar char="•"/>
            </a:pPr>
            <a:r>
              <a:rPr lang="en-US" altLang="en-US" sz="1600" dirty="0">
                <a:solidFill>
                  <a:schemeClr val="bg2"/>
                </a:solidFill>
                <a:latin typeface="Times New Roman" panose="02020603050405020304" pitchFamily="18" charset="0"/>
                <a:cs typeface="Times New Roman" panose="02020603050405020304" pitchFamily="18" charset="0"/>
              </a:rPr>
              <a:t>Strong generalization capability </a:t>
            </a:r>
          </a:p>
          <a:p>
            <a:pPr marL="457200" lvl="1" indent="0" eaLnBrk="0" fontAlgn="base" hangingPunct="0">
              <a:lnSpc>
                <a:spcPct val="100000"/>
              </a:lnSpc>
              <a:spcBef>
                <a:spcPct val="0"/>
              </a:spcBef>
              <a:spcAft>
                <a:spcPct val="0"/>
              </a:spcAft>
              <a:buClrTx/>
              <a:buSzTx/>
              <a:buFontTx/>
              <a:buChar char="•"/>
            </a:pPr>
            <a:r>
              <a:rPr lang="en-US" altLang="en-US" sz="1600" dirty="0">
                <a:solidFill>
                  <a:schemeClr val="bg2"/>
                </a:solidFill>
                <a:latin typeface="Times New Roman" panose="02020603050405020304" pitchFamily="18" charset="0"/>
                <a:cs typeface="Times New Roman" panose="02020603050405020304" pitchFamily="18" charset="0"/>
              </a:rPr>
              <a:t>Less overfitting compared to some models </a:t>
            </a:r>
          </a:p>
          <a:p>
            <a:pPr marL="114300" indent="0">
              <a:buNone/>
            </a:pPr>
            <a:endParaRPr lang="en-US" sz="1600" dirty="0">
              <a:latin typeface="Times New Roman" panose="02020603050405020304" pitchFamily="18" charset="0"/>
              <a:cs typeface="Times New Roman" panose="02020603050405020304" pitchFamily="18" charset="0"/>
            </a:endParaRPr>
          </a:p>
          <a:p>
            <a:pPr marL="114300" indent="0">
              <a:buNone/>
            </a:pPr>
            <a:endParaRPr lang="en-IN" sz="1600" dirty="0">
              <a:latin typeface="Times New Roman" panose="02020603050405020304" pitchFamily="18" charset="0"/>
              <a:cs typeface="Times New Roman" panose="02020603050405020304" pitchFamily="18" charset="0"/>
            </a:endParaRPr>
          </a:p>
        </p:txBody>
      </p:sp>
      <p:pic>
        <p:nvPicPr>
          <p:cNvPr id="5" name="Picture 4">
            <a:extLst>
              <a:ext uri="{FF2B5EF4-FFF2-40B4-BE49-F238E27FC236}">
                <a16:creationId xmlns:a16="http://schemas.microsoft.com/office/drawing/2014/main" id="{0AB2DCC9-E9D4-F21E-02F4-4BB1B7F00378}"/>
              </a:ext>
            </a:extLst>
          </p:cNvPr>
          <p:cNvPicPr>
            <a:picLocks noChangeAspect="1"/>
          </p:cNvPicPr>
          <p:nvPr/>
        </p:nvPicPr>
        <p:blipFill>
          <a:blip r:embed="rId2"/>
          <a:stretch>
            <a:fillRect/>
          </a:stretch>
        </p:blipFill>
        <p:spPr>
          <a:xfrm>
            <a:off x="2500073" y="1981955"/>
            <a:ext cx="1730670" cy="235465"/>
          </a:xfrm>
          <a:prstGeom prst="rect">
            <a:avLst/>
          </a:prstGeom>
        </p:spPr>
      </p:pic>
    </p:spTree>
    <p:extLst>
      <p:ext uri="{BB962C8B-B14F-4D97-AF65-F5344CB8AC3E}">
        <p14:creationId xmlns:p14="http://schemas.microsoft.com/office/powerpoint/2010/main" val="367980326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35"/>
        <p:cNvGrpSpPr/>
        <p:nvPr/>
      </p:nvGrpSpPr>
      <p:grpSpPr>
        <a:xfrm>
          <a:off x="0" y="0"/>
          <a:ext cx="0" cy="0"/>
          <a:chOff x="0" y="0"/>
          <a:chExt cx="0" cy="0"/>
        </a:xfrm>
      </p:grpSpPr>
      <p:sp>
        <p:nvSpPr>
          <p:cNvPr id="136" name="Google Shape;136;p25"/>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GB">
                <a:latin typeface="Times New Roman"/>
                <a:ea typeface="Times New Roman"/>
                <a:cs typeface="Times New Roman"/>
                <a:sym typeface="Times New Roman"/>
              </a:rPr>
              <a:t>Algorithm</a:t>
            </a:r>
            <a:endParaRPr>
              <a:latin typeface="Times New Roman"/>
              <a:ea typeface="Times New Roman"/>
              <a:cs typeface="Times New Roman"/>
              <a:sym typeface="Times New Roman"/>
            </a:endParaRPr>
          </a:p>
        </p:txBody>
      </p:sp>
      <p:sp>
        <p:nvSpPr>
          <p:cNvPr id="137" name="Google Shape;137;p25"/>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GB" sz="1600">
                <a:latin typeface="Times New Roman"/>
                <a:ea typeface="Times New Roman"/>
                <a:cs typeface="Times New Roman"/>
                <a:sym typeface="Times New Roman"/>
              </a:rPr>
              <a:t>Model Training and Classification contd.</a:t>
            </a:r>
            <a:endParaRPr sz="1600">
              <a:latin typeface="Times New Roman"/>
              <a:ea typeface="Times New Roman"/>
              <a:cs typeface="Times New Roman"/>
              <a:sym typeface="Times New Roman"/>
            </a:endParaRPr>
          </a:p>
          <a:p>
            <a:pPr marL="457200" lvl="0" indent="-330200" algn="l" rtl="0">
              <a:spcBef>
                <a:spcPts val="1200"/>
              </a:spcBef>
              <a:spcAft>
                <a:spcPts val="0"/>
              </a:spcAft>
              <a:buSzPts val="1600"/>
              <a:buFont typeface="Times New Roman"/>
              <a:buChar char="●"/>
            </a:pPr>
            <a:r>
              <a:rPr lang="en-GB" sz="1600">
                <a:latin typeface="Times New Roman"/>
                <a:ea typeface="Times New Roman"/>
                <a:cs typeface="Times New Roman"/>
                <a:sym typeface="Times New Roman"/>
              </a:rPr>
              <a:t>Evaluation Metric: Accuracy, F1 Score, Confusion Matrix</a:t>
            </a:r>
            <a:endParaRPr sz="1600">
              <a:latin typeface="Times New Roman"/>
              <a:ea typeface="Times New Roman"/>
              <a:cs typeface="Times New Roman"/>
              <a:sym typeface="Times New Roman"/>
            </a:endParaRPr>
          </a:p>
          <a:p>
            <a:pPr marL="457200" lvl="0" indent="-330200" algn="l" rtl="0">
              <a:spcBef>
                <a:spcPts val="0"/>
              </a:spcBef>
              <a:spcAft>
                <a:spcPts val="0"/>
              </a:spcAft>
              <a:buSzPts val="1600"/>
              <a:buFont typeface="Times New Roman"/>
              <a:buChar char="●"/>
            </a:pPr>
            <a:r>
              <a:rPr lang="en-GB" sz="1600">
                <a:latin typeface="Times New Roman"/>
                <a:ea typeface="Times New Roman"/>
                <a:cs typeface="Times New Roman"/>
                <a:sym typeface="Times New Roman"/>
              </a:rPr>
              <a:t>Best model selected based on performance and accuracy.</a:t>
            </a:r>
            <a:endParaRPr sz="1600">
              <a:latin typeface="Times New Roman"/>
              <a:ea typeface="Times New Roman"/>
              <a:cs typeface="Times New Roman"/>
              <a:sym typeface="Times New Roman"/>
            </a:endParaRPr>
          </a:p>
          <a:p>
            <a:pPr marL="0" lvl="0" indent="0" algn="l" rtl="0">
              <a:spcBef>
                <a:spcPts val="1200"/>
              </a:spcBef>
              <a:spcAft>
                <a:spcPts val="0"/>
              </a:spcAft>
              <a:buNone/>
            </a:pPr>
            <a:endParaRPr sz="1600">
              <a:latin typeface="Times New Roman"/>
              <a:ea typeface="Times New Roman"/>
              <a:cs typeface="Times New Roman"/>
              <a:sym typeface="Times New Roman"/>
            </a:endParaRPr>
          </a:p>
          <a:p>
            <a:pPr marL="0" lvl="0" indent="0" algn="l" rtl="0">
              <a:spcBef>
                <a:spcPts val="1200"/>
              </a:spcBef>
              <a:spcAft>
                <a:spcPts val="0"/>
              </a:spcAft>
              <a:buNone/>
            </a:pPr>
            <a:r>
              <a:rPr lang="en-GB" sz="1600">
                <a:latin typeface="Times New Roman"/>
                <a:ea typeface="Times New Roman"/>
                <a:cs typeface="Times New Roman"/>
                <a:sym typeface="Times New Roman"/>
              </a:rPr>
              <a:t>5. Similarity Computation using Cosine Similarity</a:t>
            </a:r>
            <a:endParaRPr sz="1600">
              <a:latin typeface="Times New Roman"/>
              <a:ea typeface="Times New Roman"/>
              <a:cs typeface="Times New Roman"/>
              <a:sym typeface="Times New Roman"/>
            </a:endParaRPr>
          </a:p>
          <a:p>
            <a:pPr marL="0" lvl="0" indent="0" algn="l" rtl="0">
              <a:spcBef>
                <a:spcPts val="1200"/>
              </a:spcBef>
              <a:spcAft>
                <a:spcPts val="0"/>
              </a:spcAft>
              <a:buNone/>
            </a:pPr>
            <a:r>
              <a:rPr lang="en-GB" sz="1600">
                <a:latin typeface="Times New Roman"/>
                <a:ea typeface="Times New Roman"/>
                <a:cs typeface="Times New Roman"/>
                <a:sym typeface="Times New Roman"/>
              </a:rPr>
              <a:t>	</a:t>
            </a:r>
            <a:endParaRPr sz="1600">
              <a:latin typeface="Times New Roman"/>
              <a:ea typeface="Times New Roman"/>
              <a:cs typeface="Times New Roman"/>
              <a:sym typeface="Times New Roman"/>
            </a:endParaRPr>
          </a:p>
          <a:p>
            <a:pPr marL="0" lvl="0" indent="0" algn="l" rtl="0">
              <a:spcBef>
                <a:spcPts val="1200"/>
              </a:spcBef>
              <a:spcAft>
                <a:spcPts val="1200"/>
              </a:spcAft>
              <a:buNone/>
            </a:pPr>
            <a:r>
              <a:rPr lang="en-GB" sz="1600">
                <a:latin typeface="Times New Roman"/>
                <a:ea typeface="Times New Roman"/>
                <a:cs typeface="Times New Roman"/>
                <a:sym typeface="Times New Roman"/>
              </a:rPr>
              <a:t>Where, A represents the vector corresponding to a resume and represents the vector corresponding to the job description.</a:t>
            </a:r>
            <a:endParaRPr sz="1600">
              <a:latin typeface="Times New Roman"/>
              <a:ea typeface="Times New Roman"/>
              <a:cs typeface="Times New Roman"/>
              <a:sym typeface="Times New Roman"/>
            </a:endParaRPr>
          </a:p>
        </p:txBody>
      </p:sp>
      <p:pic>
        <p:nvPicPr>
          <p:cNvPr id="138" name="Google Shape;138;p25"/>
          <p:cNvPicPr preferRelativeResize="0"/>
          <p:nvPr/>
        </p:nvPicPr>
        <p:blipFill>
          <a:blip r:embed="rId3">
            <a:alphaModFix/>
          </a:blip>
          <a:stretch>
            <a:fillRect/>
          </a:stretch>
        </p:blipFill>
        <p:spPr>
          <a:xfrm>
            <a:off x="1473600" y="3138900"/>
            <a:ext cx="1718100" cy="572700"/>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42"/>
        <p:cNvGrpSpPr/>
        <p:nvPr/>
      </p:nvGrpSpPr>
      <p:grpSpPr>
        <a:xfrm>
          <a:off x="0" y="0"/>
          <a:ext cx="0" cy="0"/>
          <a:chOff x="0" y="0"/>
          <a:chExt cx="0" cy="0"/>
        </a:xfrm>
      </p:grpSpPr>
      <p:sp>
        <p:nvSpPr>
          <p:cNvPr id="143" name="Google Shape;143;p26"/>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GB">
                <a:latin typeface="Times New Roman"/>
                <a:ea typeface="Times New Roman"/>
                <a:cs typeface="Times New Roman"/>
                <a:sym typeface="Times New Roman"/>
              </a:rPr>
              <a:t>Algorithm</a:t>
            </a:r>
            <a:endParaRPr>
              <a:latin typeface="Times New Roman"/>
              <a:ea typeface="Times New Roman"/>
              <a:cs typeface="Times New Roman"/>
              <a:sym typeface="Times New Roman"/>
            </a:endParaRPr>
          </a:p>
        </p:txBody>
      </p:sp>
      <p:sp>
        <p:nvSpPr>
          <p:cNvPr id="144" name="Google Shape;144;p26"/>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GB" sz="1600">
                <a:latin typeface="Times New Roman"/>
                <a:ea typeface="Times New Roman"/>
                <a:cs typeface="Times New Roman"/>
                <a:sym typeface="Times New Roman"/>
              </a:rPr>
              <a:t>6. Resume Ranking</a:t>
            </a:r>
            <a:endParaRPr sz="1600">
              <a:latin typeface="Times New Roman"/>
              <a:ea typeface="Times New Roman"/>
              <a:cs typeface="Times New Roman"/>
              <a:sym typeface="Times New Roman"/>
            </a:endParaRPr>
          </a:p>
          <a:p>
            <a:pPr marL="0" lvl="0" indent="0" algn="l" rtl="0">
              <a:spcBef>
                <a:spcPts val="1200"/>
              </a:spcBef>
              <a:spcAft>
                <a:spcPts val="0"/>
              </a:spcAft>
              <a:buNone/>
            </a:pPr>
            <a:r>
              <a:rPr lang="en-GB" sz="1600">
                <a:latin typeface="Times New Roman"/>
                <a:ea typeface="Times New Roman"/>
                <a:cs typeface="Times New Roman"/>
                <a:sym typeface="Times New Roman"/>
              </a:rPr>
              <a:t>	Resumes are ranked based on similarity score. </a:t>
            </a:r>
            <a:endParaRPr sz="1600">
              <a:latin typeface="Times New Roman"/>
              <a:ea typeface="Times New Roman"/>
              <a:cs typeface="Times New Roman"/>
              <a:sym typeface="Times New Roman"/>
            </a:endParaRPr>
          </a:p>
          <a:p>
            <a:pPr marL="0" lvl="0" indent="0" algn="l" rtl="0">
              <a:spcBef>
                <a:spcPts val="1200"/>
              </a:spcBef>
              <a:spcAft>
                <a:spcPts val="0"/>
              </a:spcAft>
              <a:buNone/>
            </a:pPr>
            <a:endParaRPr sz="1600">
              <a:latin typeface="Times New Roman"/>
              <a:ea typeface="Times New Roman"/>
              <a:cs typeface="Times New Roman"/>
              <a:sym typeface="Times New Roman"/>
            </a:endParaRPr>
          </a:p>
          <a:p>
            <a:pPr marL="0" lvl="0" indent="0" algn="l" rtl="0">
              <a:spcBef>
                <a:spcPts val="1200"/>
              </a:spcBef>
              <a:spcAft>
                <a:spcPts val="0"/>
              </a:spcAft>
              <a:buNone/>
            </a:pPr>
            <a:r>
              <a:rPr lang="en-GB" sz="1600">
                <a:latin typeface="Times New Roman"/>
                <a:ea typeface="Times New Roman"/>
                <a:cs typeface="Times New Roman"/>
                <a:sym typeface="Times New Roman"/>
              </a:rPr>
              <a:t>7. Output Generation</a:t>
            </a:r>
            <a:endParaRPr sz="1600">
              <a:latin typeface="Times New Roman"/>
              <a:ea typeface="Times New Roman"/>
              <a:cs typeface="Times New Roman"/>
              <a:sym typeface="Times New Roman"/>
            </a:endParaRPr>
          </a:p>
          <a:p>
            <a:pPr marL="0" lvl="0" indent="0" algn="l" rtl="0">
              <a:spcBef>
                <a:spcPts val="1200"/>
              </a:spcBef>
              <a:spcAft>
                <a:spcPts val="0"/>
              </a:spcAft>
              <a:buNone/>
            </a:pPr>
            <a:r>
              <a:rPr lang="en-GB" sz="1600">
                <a:latin typeface="Times New Roman"/>
                <a:ea typeface="Times New Roman"/>
                <a:cs typeface="Times New Roman"/>
                <a:sym typeface="Times New Roman"/>
              </a:rPr>
              <a:t>	Displays final results to the user.</a:t>
            </a:r>
            <a:endParaRPr sz="1600">
              <a:latin typeface="Times New Roman"/>
              <a:ea typeface="Times New Roman"/>
              <a:cs typeface="Times New Roman"/>
              <a:sym typeface="Times New Roman"/>
            </a:endParaRPr>
          </a:p>
          <a:p>
            <a:pPr marL="0" lvl="0" indent="0" algn="l" rtl="0">
              <a:spcBef>
                <a:spcPts val="1200"/>
              </a:spcBef>
              <a:spcAft>
                <a:spcPts val="1200"/>
              </a:spcAft>
              <a:buNone/>
            </a:pPr>
            <a:r>
              <a:rPr lang="en-GB" sz="1600">
                <a:latin typeface="Times New Roman"/>
                <a:ea typeface="Times New Roman"/>
                <a:cs typeface="Times New Roman"/>
                <a:sym typeface="Times New Roman"/>
              </a:rPr>
              <a:t>	Displays the category, match score and the best candidate.</a:t>
            </a:r>
            <a:endParaRPr sz="1600">
              <a:latin typeface="Times New Roman"/>
              <a:ea typeface="Times New Roman"/>
              <a:cs typeface="Times New Roman"/>
              <a:sym typeface="Times New Roman"/>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48"/>
        <p:cNvGrpSpPr/>
        <p:nvPr/>
      </p:nvGrpSpPr>
      <p:grpSpPr>
        <a:xfrm>
          <a:off x="0" y="0"/>
          <a:ext cx="0" cy="0"/>
          <a:chOff x="0" y="0"/>
          <a:chExt cx="0" cy="0"/>
        </a:xfrm>
      </p:grpSpPr>
      <p:sp>
        <p:nvSpPr>
          <p:cNvPr id="149" name="Google Shape;149;p27"/>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GB">
                <a:latin typeface="Times New Roman"/>
                <a:ea typeface="Times New Roman"/>
                <a:cs typeface="Times New Roman"/>
                <a:sym typeface="Times New Roman"/>
              </a:rPr>
              <a:t>Results </a:t>
            </a:r>
            <a:endParaRPr>
              <a:latin typeface="Times New Roman"/>
              <a:ea typeface="Times New Roman"/>
              <a:cs typeface="Times New Roman"/>
              <a:sym typeface="Times New Roman"/>
            </a:endParaRPr>
          </a:p>
        </p:txBody>
      </p:sp>
      <p:sp>
        <p:nvSpPr>
          <p:cNvPr id="150" name="Google Shape;150;p27"/>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p>
            <a:pPr marL="457200" lvl="0" indent="-330200" algn="l" rtl="0">
              <a:spcBef>
                <a:spcPts val="0"/>
              </a:spcBef>
              <a:spcAft>
                <a:spcPts val="0"/>
              </a:spcAft>
              <a:buSzPts val="1600"/>
              <a:buFont typeface="Times New Roman"/>
              <a:buChar char="●"/>
            </a:pPr>
            <a:r>
              <a:rPr lang="en-GB" sz="1600">
                <a:latin typeface="Times New Roman"/>
                <a:ea typeface="Times New Roman"/>
                <a:cs typeface="Times New Roman"/>
                <a:sym typeface="Times New Roman"/>
              </a:rPr>
              <a:t>Model Performance:</a:t>
            </a:r>
            <a:endParaRPr sz="1600">
              <a:latin typeface="Times New Roman"/>
              <a:ea typeface="Times New Roman"/>
              <a:cs typeface="Times New Roman"/>
              <a:sym typeface="Times New Roman"/>
            </a:endParaRPr>
          </a:p>
          <a:p>
            <a:pPr marL="0" lvl="0" indent="457200" algn="l" rtl="0">
              <a:spcBef>
                <a:spcPts val="1200"/>
              </a:spcBef>
              <a:spcAft>
                <a:spcPts val="0"/>
              </a:spcAft>
              <a:buNone/>
            </a:pPr>
            <a:r>
              <a:rPr lang="en-GB" sz="1600">
                <a:latin typeface="Times New Roman"/>
                <a:ea typeface="Times New Roman"/>
                <a:cs typeface="Times New Roman"/>
                <a:sym typeface="Times New Roman"/>
              </a:rPr>
              <a:t>Compares performance of multiple models to select the best one</a:t>
            </a:r>
            <a:endParaRPr sz="1600">
              <a:latin typeface="Times New Roman"/>
              <a:ea typeface="Times New Roman"/>
              <a:cs typeface="Times New Roman"/>
              <a:sym typeface="Times New Roman"/>
            </a:endParaRPr>
          </a:p>
          <a:p>
            <a:pPr marL="0" lvl="0" indent="0" algn="l" rtl="0">
              <a:spcBef>
                <a:spcPts val="1200"/>
              </a:spcBef>
              <a:spcAft>
                <a:spcPts val="1200"/>
              </a:spcAft>
              <a:buNone/>
            </a:pPr>
            <a:endParaRPr sz="1600">
              <a:latin typeface="Times New Roman"/>
              <a:ea typeface="Times New Roman"/>
              <a:cs typeface="Times New Roman"/>
              <a:sym typeface="Times New Roman"/>
            </a:endParaRPr>
          </a:p>
        </p:txBody>
      </p:sp>
      <p:pic>
        <p:nvPicPr>
          <p:cNvPr id="151" name="Google Shape;151;p27"/>
          <p:cNvPicPr preferRelativeResize="0"/>
          <p:nvPr/>
        </p:nvPicPr>
        <p:blipFill>
          <a:blip r:embed="rId3">
            <a:alphaModFix/>
          </a:blip>
          <a:stretch>
            <a:fillRect/>
          </a:stretch>
        </p:blipFill>
        <p:spPr>
          <a:xfrm>
            <a:off x="726500" y="1975620"/>
            <a:ext cx="4313300" cy="2936100"/>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155"/>
        <p:cNvGrpSpPr/>
        <p:nvPr/>
      </p:nvGrpSpPr>
      <p:grpSpPr>
        <a:xfrm>
          <a:off x="0" y="0"/>
          <a:ext cx="0" cy="0"/>
          <a:chOff x="0" y="0"/>
          <a:chExt cx="0" cy="0"/>
        </a:xfrm>
      </p:grpSpPr>
      <p:sp>
        <p:nvSpPr>
          <p:cNvPr id="156" name="Google Shape;156;p28"/>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GB">
                <a:latin typeface="Times New Roman"/>
                <a:ea typeface="Times New Roman"/>
                <a:cs typeface="Times New Roman"/>
                <a:sym typeface="Times New Roman"/>
              </a:rPr>
              <a:t>Results </a:t>
            </a:r>
            <a:endParaRPr>
              <a:latin typeface="Times New Roman"/>
              <a:ea typeface="Times New Roman"/>
              <a:cs typeface="Times New Roman"/>
              <a:sym typeface="Times New Roman"/>
            </a:endParaRPr>
          </a:p>
        </p:txBody>
      </p:sp>
      <p:sp>
        <p:nvSpPr>
          <p:cNvPr id="157" name="Google Shape;157;p28"/>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p>
            <a:pPr marL="457200" lvl="0" indent="-330200" algn="l" rtl="0">
              <a:spcBef>
                <a:spcPts val="0"/>
              </a:spcBef>
              <a:spcAft>
                <a:spcPts val="0"/>
              </a:spcAft>
              <a:buSzPts val="1600"/>
              <a:buFont typeface="Times New Roman"/>
              <a:buChar char="●"/>
            </a:pPr>
            <a:r>
              <a:rPr lang="en-GB" sz="1600">
                <a:latin typeface="Times New Roman"/>
                <a:ea typeface="Times New Roman"/>
                <a:cs typeface="Times New Roman"/>
                <a:sym typeface="Times New Roman"/>
              </a:rPr>
              <a:t>Model Performance:</a:t>
            </a:r>
            <a:endParaRPr sz="1600">
              <a:latin typeface="Times New Roman"/>
              <a:ea typeface="Times New Roman"/>
              <a:cs typeface="Times New Roman"/>
              <a:sym typeface="Times New Roman"/>
            </a:endParaRPr>
          </a:p>
          <a:p>
            <a:pPr marL="0" lvl="0" indent="0" algn="l" rtl="0">
              <a:spcBef>
                <a:spcPts val="1200"/>
              </a:spcBef>
              <a:spcAft>
                <a:spcPts val="1200"/>
              </a:spcAft>
              <a:buNone/>
            </a:pPr>
            <a:endParaRPr sz="1600">
              <a:latin typeface="Times New Roman"/>
              <a:ea typeface="Times New Roman"/>
              <a:cs typeface="Times New Roman"/>
              <a:sym typeface="Times New Roman"/>
            </a:endParaRPr>
          </a:p>
        </p:txBody>
      </p:sp>
      <p:pic>
        <p:nvPicPr>
          <p:cNvPr id="158" name="Google Shape;158;p28"/>
          <p:cNvPicPr preferRelativeResize="0"/>
          <p:nvPr/>
        </p:nvPicPr>
        <p:blipFill>
          <a:blip r:embed="rId3">
            <a:alphaModFix/>
          </a:blip>
          <a:stretch>
            <a:fillRect/>
          </a:stretch>
        </p:blipFill>
        <p:spPr>
          <a:xfrm>
            <a:off x="839950" y="1639225"/>
            <a:ext cx="4371150" cy="3416400"/>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162"/>
        <p:cNvGrpSpPr/>
        <p:nvPr/>
      </p:nvGrpSpPr>
      <p:grpSpPr>
        <a:xfrm>
          <a:off x="0" y="0"/>
          <a:ext cx="0" cy="0"/>
          <a:chOff x="0" y="0"/>
          <a:chExt cx="0" cy="0"/>
        </a:xfrm>
      </p:grpSpPr>
      <p:sp>
        <p:nvSpPr>
          <p:cNvPr id="163" name="Google Shape;163;p29"/>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GB">
                <a:latin typeface="Times New Roman"/>
                <a:ea typeface="Times New Roman"/>
                <a:cs typeface="Times New Roman"/>
                <a:sym typeface="Times New Roman"/>
              </a:rPr>
              <a:t>Results </a:t>
            </a:r>
            <a:endParaRPr>
              <a:latin typeface="Times New Roman"/>
              <a:ea typeface="Times New Roman"/>
              <a:cs typeface="Times New Roman"/>
              <a:sym typeface="Times New Roman"/>
            </a:endParaRPr>
          </a:p>
        </p:txBody>
      </p:sp>
      <p:sp>
        <p:nvSpPr>
          <p:cNvPr id="164" name="Google Shape;164;p29"/>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p>
            <a:pPr marL="457200" lvl="0" indent="-330200" algn="l" rtl="0">
              <a:spcBef>
                <a:spcPts val="0"/>
              </a:spcBef>
              <a:spcAft>
                <a:spcPts val="0"/>
              </a:spcAft>
              <a:buSzPts val="1600"/>
              <a:buFont typeface="Times New Roman"/>
              <a:buChar char="●"/>
            </a:pPr>
            <a:r>
              <a:rPr lang="en-GB" sz="1600">
                <a:latin typeface="Times New Roman"/>
                <a:ea typeface="Times New Roman"/>
                <a:cs typeface="Times New Roman"/>
                <a:sym typeface="Times New Roman"/>
              </a:rPr>
              <a:t>Resume Ranking </a:t>
            </a:r>
            <a:endParaRPr sz="1600">
              <a:latin typeface="Times New Roman"/>
              <a:ea typeface="Times New Roman"/>
              <a:cs typeface="Times New Roman"/>
              <a:sym typeface="Times New Roman"/>
            </a:endParaRPr>
          </a:p>
          <a:p>
            <a:pPr marL="0" lvl="0" indent="0" algn="just" rtl="0">
              <a:spcBef>
                <a:spcPts val="1200"/>
              </a:spcBef>
              <a:spcAft>
                <a:spcPts val="0"/>
              </a:spcAft>
              <a:buNone/>
            </a:pPr>
            <a:r>
              <a:rPr lang="en-GB" sz="1600">
                <a:latin typeface="Times New Roman"/>
                <a:ea typeface="Times New Roman"/>
                <a:cs typeface="Times New Roman"/>
                <a:sym typeface="Times New Roman"/>
              </a:rPr>
              <a:t>The user adds the job description:</a:t>
            </a:r>
            <a:r>
              <a:rPr lang="en-GB" sz="1240" i="1">
                <a:solidFill>
                  <a:schemeClr val="dk1"/>
                </a:solidFill>
                <a:highlight>
                  <a:schemeClr val="lt1"/>
                </a:highlight>
                <a:latin typeface="Times New Roman"/>
                <a:ea typeface="Times New Roman"/>
                <a:cs typeface="Times New Roman"/>
                <a:sym typeface="Times New Roman"/>
              </a:rPr>
              <a:t>We are looking for an experienced Data Scientist with a strong background in machine learning, statistical modelling, and data analysis. The ideal candidate should have proficiency in Python and R, experience with frameworks such as scikit-learn, TensorFlow, or PyTorch, and the ability to communicate complex findings to non-technical stakeholders. Responsibilities include developing predictive models, performing exploratory data analysis, building data pipelines, and collaborating with cross-functional teams. Experience with SQL databases, cloud platforms (AWS, GCP, or Azure), and big data tools such as Spark is advantageous. A bachelor's or master's degree in Computer Science, Statistics, Mathematics, or a related field is required.</a:t>
            </a:r>
            <a:endParaRPr sz="1240" i="1">
              <a:solidFill>
                <a:schemeClr val="dk1"/>
              </a:solidFill>
              <a:highlight>
                <a:schemeClr val="lt1"/>
              </a:highlight>
              <a:latin typeface="Times New Roman"/>
              <a:ea typeface="Times New Roman"/>
              <a:cs typeface="Times New Roman"/>
              <a:sym typeface="Times New Roman"/>
            </a:endParaRPr>
          </a:p>
          <a:p>
            <a:pPr marL="0" lvl="0" indent="0" algn="l" rtl="0">
              <a:spcBef>
                <a:spcPts val="1200"/>
              </a:spcBef>
              <a:spcAft>
                <a:spcPts val="0"/>
              </a:spcAft>
              <a:buNone/>
            </a:pPr>
            <a:endParaRPr sz="1600">
              <a:latin typeface="Times New Roman"/>
              <a:ea typeface="Times New Roman"/>
              <a:cs typeface="Times New Roman"/>
              <a:sym typeface="Times New Roman"/>
            </a:endParaRPr>
          </a:p>
          <a:p>
            <a:pPr marL="0" lvl="0" indent="0" algn="l" rtl="0">
              <a:spcBef>
                <a:spcPts val="1200"/>
              </a:spcBef>
              <a:spcAft>
                <a:spcPts val="0"/>
              </a:spcAft>
              <a:buNone/>
            </a:pPr>
            <a:endParaRPr sz="1600">
              <a:latin typeface="Times New Roman"/>
              <a:ea typeface="Times New Roman"/>
              <a:cs typeface="Times New Roman"/>
              <a:sym typeface="Times New Roman"/>
            </a:endParaRPr>
          </a:p>
          <a:p>
            <a:pPr marL="0" lvl="0" indent="0" algn="l" rtl="0">
              <a:spcBef>
                <a:spcPts val="1200"/>
              </a:spcBef>
              <a:spcAft>
                <a:spcPts val="1200"/>
              </a:spcAft>
              <a:buNone/>
            </a:pPr>
            <a:endParaRPr sz="1600">
              <a:latin typeface="Times New Roman"/>
              <a:ea typeface="Times New Roman"/>
              <a:cs typeface="Times New Roman"/>
              <a:sym typeface="Times New Roman"/>
            </a:endParaRPr>
          </a:p>
        </p:txBody>
      </p:sp>
      <p:pic>
        <p:nvPicPr>
          <p:cNvPr id="165" name="Google Shape;165;p29"/>
          <p:cNvPicPr preferRelativeResize="0"/>
          <p:nvPr/>
        </p:nvPicPr>
        <p:blipFill>
          <a:blip r:embed="rId3">
            <a:alphaModFix/>
          </a:blip>
          <a:stretch>
            <a:fillRect/>
          </a:stretch>
        </p:blipFill>
        <p:spPr>
          <a:xfrm>
            <a:off x="473638" y="3232975"/>
            <a:ext cx="3495675" cy="1104900"/>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169"/>
        <p:cNvGrpSpPr/>
        <p:nvPr/>
      </p:nvGrpSpPr>
      <p:grpSpPr>
        <a:xfrm>
          <a:off x="0" y="0"/>
          <a:ext cx="0" cy="0"/>
          <a:chOff x="0" y="0"/>
          <a:chExt cx="0" cy="0"/>
        </a:xfrm>
      </p:grpSpPr>
      <p:sp>
        <p:nvSpPr>
          <p:cNvPr id="170" name="Google Shape;170;p30"/>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GB">
                <a:latin typeface="Times New Roman"/>
                <a:ea typeface="Times New Roman"/>
                <a:cs typeface="Times New Roman"/>
                <a:sym typeface="Times New Roman"/>
              </a:rPr>
              <a:t>Results</a:t>
            </a:r>
            <a:endParaRPr>
              <a:latin typeface="Times New Roman"/>
              <a:ea typeface="Times New Roman"/>
              <a:cs typeface="Times New Roman"/>
              <a:sym typeface="Times New Roman"/>
            </a:endParaRPr>
          </a:p>
        </p:txBody>
      </p:sp>
      <p:pic>
        <p:nvPicPr>
          <p:cNvPr id="171" name="Google Shape;171;p30"/>
          <p:cNvPicPr preferRelativeResize="0"/>
          <p:nvPr/>
        </p:nvPicPr>
        <p:blipFill>
          <a:blip r:embed="rId3">
            <a:alphaModFix/>
          </a:blip>
          <a:stretch>
            <a:fillRect/>
          </a:stretch>
        </p:blipFill>
        <p:spPr>
          <a:xfrm>
            <a:off x="671825" y="1477300"/>
            <a:ext cx="2419350" cy="3543300"/>
          </a:xfrm>
          <a:prstGeom prst="rect">
            <a:avLst/>
          </a:prstGeom>
          <a:noFill/>
          <a:ln>
            <a:noFill/>
          </a:ln>
        </p:spPr>
      </p:pic>
      <p:sp>
        <p:nvSpPr>
          <p:cNvPr id="172" name="Google Shape;172;p30"/>
          <p:cNvSpPr txBox="1">
            <a:spLocks noGrp="1"/>
          </p:cNvSpPr>
          <p:nvPr>
            <p:ph type="body" idx="1"/>
          </p:nvPr>
        </p:nvSpPr>
        <p:spPr>
          <a:xfrm>
            <a:off x="572100" y="1152475"/>
            <a:ext cx="3999900" cy="3416400"/>
          </a:xfrm>
          <a:prstGeom prst="rect">
            <a:avLst/>
          </a:prstGeom>
        </p:spPr>
        <p:txBody>
          <a:bodyPr spcFirstLastPara="1" wrap="square" lIns="91425" tIns="91425" rIns="91425" bIns="91425" anchor="t" anchorCtr="0">
            <a:normAutofit/>
          </a:bodyPr>
          <a:lstStyle/>
          <a:p>
            <a:pPr marL="0" lvl="0" indent="0" algn="l" rtl="0">
              <a:spcBef>
                <a:spcPts val="0"/>
              </a:spcBef>
              <a:spcAft>
                <a:spcPts val="1200"/>
              </a:spcAft>
              <a:buNone/>
            </a:pPr>
            <a:r>
              <a:rPr lang="en-GB">
                <a:latin typeface="Times New Roman"/>
                <a:ea typeface="Times New Roman"/>
                <a:cs typeface="Times New Roman"/>
                <a:sym typeface="Times New Roman"/>
              </a:rPr>
              <a:t>All the resumes ranked using similarity score.</a:t>
            </a:r>
            <a:endParaRPr>
              <a:latin typeface="Times New Roman"/>
              <a:ea typeface="Times New Roman"/>
              <a:cs typeface="Times New Roman"/>
              <a:sym typeface="Times New Roman"/>
            </a:endParaRPr>
          </a:p>
        </p:txBody>
      </p:sp>
      <p:sp>
        <p:nvSpPr>
          <p:cNvPr id="173" name="Google Shape;173;p30"/>
          <p:cNvSpPr txBox="1">
            <a:spLocks noGrp="1"/>
          </p:cNvSpPr>
          <p:nvPr>
            <p:ph type="body" idx="2"/>
          </p:nvPr>
        </p:nvSpPr>
        <p:spPr>
          <a:xfrm>
            <a:off x="4832400" y="1152475"/>
            <a:ext cx="3999900" cy="34164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GB">
                <a:latin typeface="Times New Roman"/>
                <a:ea typeface="Times New Roman"/>
                <a:cs typeface="Times New Roman"/>
                <a:sym typeface="Times New Roman"/>
              </a:rPr>
              <a:t>Best Candidate:</a:t>
            </a:r>
            <a:endParaRPr>
              <a:latin typeface="Times New Roman"/>
              <a:ea typeface="Times New Roman"/>
              <a:cs typeface="Times New Roman"/>
              <a:sym typeface="Times New Roman"/>
            </a:endParaRPr>
          </a:p>
          <a:p>
            <a:pPr marL="0" lvl="0" indent="0" algn="l" rtl="0">
              <a:spcBef>
                <a:spcPts val="1200"/>
              </a:spcBef>
              <a:spcAft>
                <a:spcPts val="0"/>
              </a:spcAft>
              <a:buNone/>
            </a:pPr>
            <a:endParaRPr/>
          </a:p>
          <a:p>
            <a:pPr marL="0" lvl="0" indent="0" algn="l" rtl="0">
              <a:spcBef>
                <a:spcPts val="1200"/>
              </a:spcBef>
              <a:spcAft>
                <a:spcPts val="0"/>
              </a:spcAft>
              <a:buNone/>
            </a:pPr>
            <a:endParaRPr/>
          </a:p>
          <a:p>
            <a:pPr marL="0" lvl="0" indent="0" algn="l" rtl="0">
              <a:spcBef>
                <a:spcPts val="1200"/>
              </a:spcBef>
              <a:spcAft>
                <a:spcPts val="0"/>
              </a:spcAft>
              <a:buNone/>
            </a:pPr>
            <a:r>
              <a:rPr lang="en-GB">
                <a:latin typeface="Times New Roman"/>
                <a:ea typeface="Times New Roman"/>
                <a:cs typeface="Times New Roman"/>
                <a:sym typeface="Times New Roman"/>
              </a:rPr>
              <a:t>Top 5 Candidates:</a:t>
            </a:r>
            <a:endParaRPr>
              <a:latin typeface="Times New Roman"/>
              <a:ea typeface="Times New Roman"/>
              <a:cs typeface="Times New Roman"/>
              <a:sym typeface="Times New Roman"/>
            </a:endParaRPr>
          </a:p>
          <a:p>
            <a:pPr marL="0" lvl="0" indent="0" algn="l" rtl="0">
              <a:spcBef>
                <a:spcPts val="1200"/>
              </a:spcBef>
              <a:spcAft>
                <a:spcPts val="0"/>
              </a:spcAft>
              <a:buNone/>
            </a:pPr>
            <a:endParaRPr/>
          </a:p>
          <a:p>
            <a:pPr marL="0" lvl="0" indent="0" algn="l" rtl="0">
              <a:spcBef>
                <a:spcPts val="1200"/>
              </a:spcBef>
              <a:spcAft>
                <a:spcPts val="0"/>
              </a:spcAft>
              <a:buNone/>
            </a:pPr>
            <a:endParaRPr/>
          </a:p>
          <a:p>
            <a:pPr marL="0" lvl="0" indent="0" algn="l" rtl="0">
              <a:spcBef>
                <a:spcPts val="1200"/>
              </a:spcBef>
              <a:spcAft>
                <a:spcPts val="1200"/>
              </a:spcAft>
              <a:buNone/>
            </a:pPr>
            <a:endParaRPr/>
          </a:p>
        </p:txBody>
      </p:sp>
      <p:pic>
        <p:nvPicPr>
          <p:cNvPr id="174" name="Google Shape;174;p30"/>
          <p:cNvPicPr preferRelativeResize="0"/>
          <p:nvPr/>
        </p:nvPicPr>
        <p:blipFill>
          <a:blip r:embed="rId4">
            <a:alphaModFix/>
          </a:blip>
          <a:stretch>
            <a:fillRect/>
          </a:stretch>
        </p:blipFill>
        <p:spPr>
          <a:xfrm>
            <a:off x="4908150" y="1617869"/>
            <a:ext cx="3105150" cy="776287"/>
          </a:xfrm>
          <a:prstGeom prst="rect">
            <a:avLst/>
          </a:prstGeom>
          <a:noFill/>
          <a:ln>
            <a:noFill/>
          </a:ln>
        </p:spPr>
      </p:pic>
      <p:pic>
        <p:nvPicPr>
          <p:cNvPr id="175" name="Google Shape;175;p30"/>
          <p:cNvPicPr preferRelativeResize="0"/>
          <p:nvPr/>
        </p:nvPicPr>
        <p:blipFill rotWithShape="1">
          <a:blip r:embed="rId5">
            <a:alphaModFix/>
          </a:blip>
          <a:srcRect b="43381"/>
          <a:stretch/>
        </p:blipFill>
        <p:spPr>
          <a:xfrm>
            <a:off x="4922513" y="2808950"/>
            <a:ext cx="3819675" cy="1937325"/>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179"/>
        <p:cNvGrpSpPr/>
        <p:nvPr/>
      </p:nvGrpSpPr>
      <p:grpSpPr>
        <a:xfrm>
          <a:off x="0" y="0"/>
          <a:ext cx="0" cy="0"/>
          <a:chOff x="0" y="0"/>
          <a:chExt cx="0" cy="0"/>
        </a:xfrm>
      </p:grpSpPr>
      <p:sp>
        <p:nvSpPr>
          <p:cNvPr id="180" name="Google Shape;180;p31"/>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GB">
                <a:latin typeface="Times New Roman"/>
                <a:ea typeface="Times New Roman"/>
                <a:cs typeface="Times New Roman"/>
                <a:sym typeface="Times New Roman"/>
              </a:rPr>
              <a:t>Results</a:t>
            </a:r>
            <a:endParaRPr>
              <a:latin typeface="Times New Roman"/>
              <a:ea typeface="Times New Roman"/>
              <a:cs typeface="Times New Roman"/>
              <a:sym typeface="Times New Roman"/>
            </a:endParaRPr>
          </a:p>
        </p:txBody>
      </p:sp>
      <p:pic>
        <p:nvPicPr>
          <p:cNvPr id="181" name="Google Shape;181;p31"/>
          <p:cNvPicPr preferRelativeResize="0"/>
          <p:nvPr/>
        </p:nvPicPr>
        <p:blipFill>
          <a:blip r:embed="rId3">
            <a:alphaModFix/>
          </a:blip>
          <a:stretch>
            <a:fillRect/>
          </a:stretch>
        </p:blipFill>
        <p:spPr>
          <a:xfrm>
            <a:off x="1627225" y="1017725"/>
            <a:ext cx="6046660" cy="3820975"/>
          </a:xfrm>
          <a:prstGeom prst="rect">
            <a:avLst/>
          </a:prstGeom>
          <a:noFill/>
          <a:ln>
            <a:noFill/>
          </a:ln>
        </p:spPr>
      </p:pic>
      <p:sp>
        <p:nvSpPr>
          <p:cNvPr id="182" name="Google Shape;182;p31"/>
          <p:cNvSpPr txBox="1"/>
          <p:nvPr/>
        </p:nvSpPr>
        <p:spPr>
          <a:xfrm>
            <a:off x="2599293" y="4654050"/>
            <a:ext cx="5653800" cy="369300"/>
          </a:xfrm>
          <a:prstGeom prst="rect">
            <a:avLst/>
          </a:prstGeom>
          <a:noFill/>
          <a:ln>
            <a:noFill/>
          </a:ln>
        </p:spPr>
        <p:txBody>
          <a:bodyPr spcFirstLastPara="1" wrap="square" lIns="91425" tIns="91425" rIns="91425" bIns="91425" anchor="t" anchorCtr="0">
            <a:spAutoFit/>
          </a:bodyPr>
          <a:lstStyle/>
          <a:p>
            <a:pPr marL="0" lvl="0" indent="0" algn="just" rtl="0">
              <a:lnSpc>
                <a:spcPct val="115000"/>
              </a:lnSpc>
              <a:spcBef>
                <a:spcPts val="1200"/>
              </a:spcBef>
              <a:spcAft>
                <a:spcPts val="1200"/>
              </a:spcAft>
              <a:buNone/>
            </a:pPr>
            <a:r>
              <a:rPr lang="en-GB" sz="1200" dirty="0">
                <a:solidFill>
                  <a:schemeClr val="dk1"/>
                </a:solidFill>
                <a:latin typeface="Times New Roman"/>
                <a:ea typeface="Times New Roman"/>
                <a:cs typeface="Times New Roman"/>
                <a:sym typeface="Times New Roman"/>
              </a:rPr>
              <a:t>Fig. Top 15 candidates ranked by relevance to job description.</a:t>
            </a:r>
            <a:endParaRPr sz="1800" dirty="0">
              <a:solidFill>
                <a:schemeClr val="dk2"/>
              </a:solidFill>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186"/>
        <p:cNvGrpSpPr/>
        <p:nvPr/>
      </p:nvGrpSpPr>
      <p:grpSpPr>
        <a:xfrm>
          <a:off x="0" y="0"/>
          <a:ext cx="0" cy="0"/>
          <a:chOff x="0" y="0"/>
          <a:chExt cx="0" cy="0"/>
        </a:xfrm>
      </p:grpSpPr>
      <p:sp>
        <p:nvSpPr>
          <p:cNvPr id="187" name="Google Shape;187;p32"/>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GB">
                <a:latin typeface="Times New Roman"/>
                <a:ea typeface="Times New Roman"/>
                <a:cs typeface="Times New Roman"/>
                <a:sym typeface="Times New Roman"/>
              </a:rPr>
              <a:t>Results</a:t>
            </a:r>
            <a:endParaRPr>
              <a:latin typeface="Times New Roman"/>
              <a:ea typeface="Times New Roman"/>
              <a:cs typeface="Times New Roman"/>
              <a:sym typeface="Times New Roman"/>
            </a:endParaRPr>
          </a:p>
        </p:txBody>
      </p:sp>
      <p:sp>
        <p:nvSpPr>
          <p:cNvPr id="188" name="Google Shape;188;p32"/>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GB">
                <a:latin typeface="Times New Roman"/>
                <a:ea typeface="Times New Roman"/>
                <a:cs typeface="Times New Roman"/>
                <a:sym typeface="Times New Roman"/>
              </a:rPr>
              <a:t>Web Application:</a:t>
            </a:r>
            <a:endParaRPr>
              <a:latin typeface="Times New Roman"/>
              <a:ea typeface="Times New Roman"/>
              <a:cs typeface="Times New Roman"/>
              <a:sym typeface="Times New Roman"/>
            </a:endParaRPr>
          </a:p>
          <a:p>
            <a:pPr marL="0" lvl="0" indent="0" algn="l" rtl="0">
              <a:spcBef>
                <a:spcPts val="1200"/>
              </a:spcBef>
              <a:spcAft>
                <a:spcPts val="1200"/>
              </a:spcAft>
              <a:buNone/>
            </a:pPr>
            <a:endParaRPr>
              <a:latin typeface="Times New Roman"/>
              <a:ea typeface="Times New Roman"/>
              <a:cs typeface="Times New Roman"/>
              <a:sym typeface="Times New Roman"/>
            </a:endParaRPr>
          </a:p>
        </p:txBody>
      </p:sp>
      <p:pic>
        <p:nvPicPr>
          <p:cNvPr id="189" name="Google Shape;189;p32"/>
          <p:cNvPicPr preferRelativeResize="0"/>
          <p:nvPr/>
        </p:nvPicPr>
        <p:blipFill>
          <a:blip r:embed="rId3">
            <a:alphaModFix/>
          </a:blip>
          <a:stretch>
            <a:fillRect/>
          </a:stretch>
        </p:blipFill>
        <p:spPr>
          <a:xfrm>
            <a:off x="2089575" y="1487800"/>
            <a:ext cx="4964850" cy="3416399"/>
          </a:xfrm>
          <a:prstGeom prst="rect">
            <a:avLst/>
          </a:prstGeom>
          <a:noFill/>
          <a:ln>
            <a:noFill/>
          </a:ln>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193"/>
        <p:cNvGrpSpPr/>
        <p:nvPr/>
      </p:nvGrpSpPr>
      <p:grpSpPr>
        <a:xfrm>
          <a:off x="0" y="0"/>
          <a:ext cx="0" cy="0"/>
          <a:chOff x="0" y="0"/>
          <a:chExt cx="0" cy="0"/>
        </a:xfrm>
      </p:grpSpPr>
      <p:sp>
        <p:nvSpPr>
          <p:cNvPr id="194" name="Google Shape;194;p33"/>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GB">
                <a:latin typeface="Times New Roman"/>
                <a:ea typeface="Times New Roman"/>
                <a:cs typeface="Times New Roman"/>
                <a:sym typeface="Times New Roman"/>
              </a:rPr>
              <a:t>Results</a:t>
            </a:r>
            <a:endParaRPr>
              <a:latin typeface="Times New Roman"/>
              <a:ea typeface="Times New Roman"/>
              <a:cs typeface="Times New Roman"/>
              <a:sym typeface="Times New Roman"/>
            </a:endParaRPr>
          </a:p>
        </p:txBody>
      </p:sp>
      <p:sp>
        <p:nvSpPr>
          <p:cNvPr id="195" name="Google Shape;195;p33"/>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GB">
                <a:latin typeface="Times New Roman"/>
                <a:ea typeface="Times New Roman"/>
                <a:cs typeface="Times New Roman"/>
                <a:sym typeface="Times New Roman"/>
              </a:rPr>
              <a:t>The user inputs the job description and uploads all the resumes required to be ranked:</a:t>
            </a:r>
            <a:endParaRPr>
              <a:latin typeface="Times New Roman"/>
              <a:ea typeface="Times New Roman"/>
              <a:cs typeface="Times New Roman"/>
              <a:sym typeface="Times New Roman"/>
            </a:endParaRPr>
          </a:p>
          <a:p>
            <a:pPr marL="0" lvl="0" indent="0" algn="l" rtl="0">
              <a:spcBef>
                <a:spcPts val="1200"/>
              </a:spcBef>
              <a:spcAft>
                <a:spcPts val="1200"/>
              </a:spcAft>
              <a:buNone/>
            </a:pPr>
            <a:endParaRPr>
              <a:latin typeface="Times New Roman"/>
              <a:ea typeface="Times New Roman"/>
              <a:cs typeface="Times New Roman"/>
              <a:sym typeface="Times New Roman"/>
            </a:endParaRPr>
          </a:p>
        </p:txBody>
      </p:sp>
      <p:pic>
        <p:nvPicPr>
          <p:cNvPr id="196" name="Google Shape;196;p33"/>
          <p:cNvPicPr preferRelativeResize="0"/>
          <p:nvPr/>
        </p:nvPicPr>
        <p:blipFill>
          <a:blip r:embed="rId3">
            <a:alphaModFix/>
          </a:blip>
          <a:stretch>
            <a:fillRect/>
          </a:stretch>
        </p:blipFill>
        <p:spPr>
          <a:xfrm>
            <a:off x="455050" y="1766599"/>
            <a:ext cx="4018625" cy="2728800"/>
          </a:xfrm>
          <a:prstGeom prst="rect">
            <a:avLst/>
          </a:prstGeom>
          <a:noFill/>
          <a:ln>
            <a:noFill/>
          </a:ln>
        </p:spPr>
      </p:pic>
      <p:pic>
        <p:nvPicPr>
          <p:cNvPr id="197" name="Google Shape;197;p33"/>
          <p:cNvPicPr preferRelativeResize="0"/>
          <p:nvPr/>
        </p:nvPicPr>
        <p:blipFill>
          <a:blip r:embed="rId4">
            <a:alphaModFix/>
          </a:blip>
          <a:stretch>
            <a:fillRect/>
          </a:stretch>
        </p:blipFill>
        <p:spPr>
          <a:xfrm>
            <a:off x="5746924" y="1766600"/>
            <a:ext cx="1937575" cy="2884650"/>
          </a:xfrm>
          <a:prstGeom prst="rect">
            <a:avLst/>
          </a:prstGeom>
          <a:noFill/>
          <a:ln>
            <a:noFill/>
          </a:ln>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201"/>
        <p:cNvGrpSpPr/>
        <p:nvPr/>
      </p:nvGrpSpPr>
      <p:grpSpPr>
        <a:xfrm>
          <a:off x="0" y="0"/>
          <a:ext cx="0" cy="0"/>
          <a:chOff x="0" y="0"/>
          <a:chExt cx="0" cy="0"/>
        </a:xfrm>
      </p:grpSpPr>
      <p:sp>
        <p:nvSpPr>
          <p:cNvPr id="202" name="Google Shape;202;p34"/>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GB">
                <a:latin typeface="Times New Roman"/>
                <a:ea typeface="Times New Roman"/>
                <a:cs typeface="Times New Roman"/>
                <a:sym typeface="Times New Roman"/>
              </a:rPr>
              <a:t>Results</a:t>
            </a:r>
            <a:endParaRPr>
              <a:latin typeface="Times New Roman"/>
              <a:ea typeface="Times New Roman"/>
              <a:cs typeface="Times New Roman"/>
              <a:sym typeface="Times New Roman"/>
            </a:endParaRPr>
          </a:p>
        </p:txBody>
      </p:sp>
      <p:sp>
        <p:nvSpPr>
          <p:cNvPr id="203" name="Google Shape;203;p34"/>
          <p:cNvSpPr txBox="1">
            <a:spLocks noGrp="1"/>
          </p:cNvSpPr>
          <p:nvPr>
            <p:ph type="body" idx="1"/>
          </p:nvPr>
        </p:nvSpPr>
        <p:spPr>
          <a:xfrm>
            <a:off x="311700" y="929525"/>
            <a:ext cx="8520600" cy="34164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GB">
                <a:latin typeface="Times New Roman"/>
                <a:ea typeface="Times New Roman"/>
                <a:cs typeface="Times New Roman"/>
                <a:sym typeface="Times New Roman"/>
              </a:rPr>
              <a:t>Candidates are ranked and the score is shown.</a:t>
            </a:r>
            <a:endParaRPr>
              <a:latin typeface="Times New Roman"/>
              <a:ea typeface="Times New Roman"/>
              <a:cs typeface="Times New Roman"/>
              <a:sym typeface="Times New Roman"/>
            </a:endParaRPr>
          </a:p>
          <a:p>
            <a:pPr marL="0" lvl="0" indent="0" algn="l" rtl="0">
              <a:spcBef>
                <a:spcPts val="1200"/>
              </a:spcBef>
              <a:spcAft>
                <a:spcPts val="1200"/>
              </a:spcAft>
              <a:buNone/>
            </a:pPr>
            <a:endParaRPr>
              <a:latin typeface="Times New Roman"/>
              <a:ea typeface="Times New Roman"/>
              <a:cs typeface="Times New Roman"/>
              <a:sym typeface="Times New Roman"/>
            </a:endParaRPr>
          </a:p>
        </p:txBody>
      </p:sp>
      <p:pic>
        <p:nvPicPr>
          <p:cNvPr id="204" name="Google Shape;204;p34"/>
          <p:cNvPicPr preferRelativeResize="0"/>
          <p:nvPr/>
        </p:nvPicPr>
        <p:blipFill>
          <a:blip r:embed="rId3">
            <a:alphaModFix/>
          </a:blip>
          <a:stretch>
            <a:fillRect/>
          </a:stretch>
        </p:blipFill>
        <p:spPr>
          <a:xfrm>
            <a:off x="2845450" y="1357825"/>
            <a:ext cx="3459299" cy="3692450"/>
          </a:xfrm>
          <a:prstGeom prst="rect">
            <a:avLst/>
          </a:prstGeom>
          <a:noFill/>
          <a:ln>
            <a:noFill/>
          </a:ln>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208"/>
        <p:cNvGrpSpPr/>
        <p:nvPr/>
      </p:nvGrpSpPr>
      <p:grpSpPr>
        <a:xfrm>
          <a:off x="0" y="0"/>
          <a:ext cx="0" cy="0"/>
          <a:chOff x="0" y="0"/>
          <a:chExt cx="0" cy="0"/>
        </a:xfrm>
      </p:grpSpPr>
      <p:sp>
        <p:nvSpPr>
          <p:cNvPr id="209" name="Google Shape;209;p35"/>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GB">
                <a:latin typeface="Times New Roman"/>
                <a:ea typeface="Times New Roman"/>
                <a:cs typeface="Times New Roman"/>
                <a:sym typeface="Times New Roman"/>
              </a:rPr>
              <a:t>Advantages</a:t>
            </a:r>
            <a:endParaRPr>
              <a:latin typeface="Times New Roman"/>
              <a:ea typeface="Times New Roman"/>
              <a:cs typeface="Times New Roman"/>
              <a:sym typeface="Times New Roman"/>
            </a:endParaRPr>
          </a:p>
        </p:txBody>
      </p:sp>
      <p:sp>
        <p:nvSpPr>
          <p:cNvPr id="210" name="Google Shape;210;p35"/>
          <p:cNvSpPr txBox="1">
            <a:spLocks noGrp="1"/>
          </p:cNvSpPr>
          <p:nvPr>
            <p:ph type="body" idx="1"/>
          </p:nvPr>
        </p:nvSpPr>
        <p:spPr>
          <a:xfrm>
            <a:off x="311700" y="1152475"/>
            <a:ext cx="8520600" cy="3416400"/>
          </a:xfrm>
          <a:prstGeom prst="rect">
            <a:avLst/>
          </a:prstGeom>
          <a:ln w="9525" cap="flat" cmpd="sng">
            <a:solidFill>
              <a:schemeClr val="lt2"/>
            </a:solidFill>
            <a:prstDash val="solid"/>
            <a:round/>
            <a:headEnd type="none" w="sm" len="sm"/>
            <a:tailEnd type="none" w="sm" len="sm"/>
          </a:ln>
        </p:spPr>
        <p:txBody>
          <a:bodyPr spcFirstLastPara="1" wrap="square" lIns="91425" tIns="91425" rIns="91425" bIns="91425" anchor="t" anchorCtr="0">
            <a:normAutofit fontScale="92500" lnSpcReduction="10000"/>
          </a:bodyPr>
          <a:lstStyle/>
          <a:p>
            <a:pPr marL="457200" lvl="0" indent="0" algn="l" rtl="0">
              <a:spcBef>
                <a:spcPts val="0"/>
              </a:spcBef>
              <a:spcAft>
                <a:spcPts val="0"/>
              </a:spcAft>
              <a:buNone/>
            </a:pPr>
            <a:r>
              <a:rPr lang="en-GB" sz="1600">
                <a:latin typeface="Times New Roman"/>
                <a:ea typeface="Times New Roman"/>
                <a:cs typeface="Times New Roman"/>
                <a:sym typeface="Times New Roman"/>
              </a:rPr>
              <a:t>1. Saves Time</a:t>
            </a:r>
            <a:endParaRPr sz="1600">
              <a:latin typeface="Times New Roman"/>
              <a:ea typeface="Times New Roman"/>
              <a:cs typeface="Times New Roman"/>
              <a:sym typeface="Times New Roman"/>
            </a:endParaRPr>
          </a:p>
          <a:p>
            <a:pPr marL="457200" lvl="0" indent="0" algn="l" rtl="0">
              <a:spcBef>
                <a:spcPts val="1200"/>
              </a:spcBef>
              <a:spcAft>
                <a:spcPts val="0"/>
              </a:spcAft>
              <a:buNone/>
            </a:pPr>
            <a:r>
              <a:rPr lang="en-GB" sz="1600">
                <a:latin typeface="Times New Roman"/>
                <a:ea typeface="Times New Roman"/>
                <a:cs typeface="Times New Roman"/>
                <a:sym typeface="Times New Roman"/>
              </a:rPr>
              <a:t>2. Faster Hiring Process</a:t>
            </a:r>
            <a:endParaRPr sz="1600">
              <a:latin typeface="Times New Roman"/>
              <a:ea typeface="Times New Roman"/>
              <a:cs typeface="Times New Roman"/>
              <a:sym typeface="Times New Roman"/>
            </a:endParaRPr>
          </a:p>
          <a:p>
            <a:pPr marL="457200" lvl="0" indent="0" algn="l" rtl="0">
              <a:spcBef>
                <a:spcPts val="1200"/>
              </a:spcBef>
              <a:spcAft>
                <a:spcPts val="0"/>
              </a:spcAft>
              <a:buNone/>
            </a:pPr>
            <a:r>
              <a:rPr lang="en-GB" sz="1600">
                <a:latin typeface="Times New Roman"/>
                <a:ea typeface="Times New Roman"/>
                <a:cs typeface="Times New Roman"/>
                <a:sym typeface="Times New Roman"/>
              </a:rPr>
              <a:t>3. Reduces Human Bias</a:t>
            </a:r>
            <a:endParaRPr sz="1600">
              <a:latin typeface="Times New Roman"/>
              <a:ea typeface="Times New Roman"/>
              <a:cs typeface="Times New Roman"/>
              <a:sym typeface="Times New Roman"/>
            </a:endParaRPr>
          </a:p>
          <a:p>
            <a:pPr marL="457200" lvl="0" indent="0" algn="l" rtl="0">
              <a:spcBef>
                <a:spcPts val="1200"/>
              </a:spcBef>
              <a:spcAft>
                <a:spcPts val="0"/>
              </a:spcAft>
              <a:buNone/>
            </a:pPr>
            <a:r>
              <a:rPr lang="en-GB" sz="1600">
                <a:latin typeface="Times New Roman"/>
                <a:ea typeface="Times New Roman"/>
                <a:cs typeface="Times New Roman"/>
                <a:sym typeface="Times New Roman"/>
              </a:rPr>
              <a:t> 4. Improves Accuracy</a:t>
            </a:r>
            <a:endParaRPr sz="1600">
              <a:latin typeface="Times New Roman"/>
              <a:ea typeface="Times New Roman"/>
              <a:cs typeface="Times New Roman"/>
              <a:sym typeface="Times New Roman"/>
            </a:endParaRPr>
          </a:p>
          <a:p>
            <a:pPr marL="457200" lvl="0" indent="0" algn="l" rtl="0">
              <a:spcBef>
                <a:spcPts val="1200"/>
              </a:spcBef>
              <a:spcAft>
                <a:spcPts val="0"/>
              </a:spcAft>
              <a:buNone/>
            </a:pPr>
            <a:r>
              <a:rPr lang="en-GB" sz="1600">
                <a:latin typeface="Times New Roman"/>
                <a:ea typeface="Times New Roman"/>
                <a:cs typeface="Times New Roman"/>
                <a:sym typeface="Times New Roman"/>
              </a:rPr>
              <a:t> 5. Cost Effective</a:t>
            </a:r>
            <a:endParaRPr sz="1600">
              <a:latin typeface="Times New Roman"/>
              <a:ea typeface="Times New Roman"/>
              <a:cs typeface="Times New Roman"/>
              <a:sym typeface="Times New Roman"/>
            </a:endParaRPr>
          </a:p>
          <a:p>
            <a:pPr marL="457200" lvl="0" indent="0" algn="l" rtl="0">
              <a:spcBef>
                <a:spcPts val="1200"/>
              </a:spcBef>
              <a:spcAft>
                <a:spcPts val="0"/>
              </a:spcAft>
              <a:buNone/>
            </a:pPr>
            <a:r>
              <a:rPr lang="en-GB" sz="1600">
                <a:latin typeface="Times New Roman"/>
                <a:ea typeface="Times New Roman"/>
                <a:cs typeface="Times New Roman"/>
                <a:sym typeface="Times New Roman"/>
              </a:rPr>
              <a:t>6. Handles Large Volume Easily</a:t>
            </a:r>
            <a:endParaRPr sz="1600">
              <a:latin typeface="Times New Roman"/>
              <a:ea typeface="Times New Roman"/>
              <a:cs typeface="Times New Roman"/>
              <a:sym typeface="Times New Roman"/>
            </a:endParaRPr>
          </a:p>
          <a:p>
            <a:pPr marL="457200" lvl="0" indent="0" algn="l" rtl="0">
              <a:spcBef>
                <a:spcPts val="1200"/>
              </a:spcBef>
              <a:spcAft>
                <a:spcPts val="0"/>
              </a:spcAft>
              <a:buNone/>
            </a:pPr>
            <a:r>
              <a:rPr lang="en-GB" sz="1600">
                <a:latin typeface="Times New Roman"/>
                <a:ea typeface="Times New Roman"/>
                <a:cs typeface="Times New Roman"/>
                <a:sym typeface="Times New Roman"/>
              </a:rPr>
              <a:t>7. Consistent Evaluation</a:t>
            </a:r>
            <a:endParaRPr sz="1600">
              <a:latin typeface="Times New Roman"/>
              <a:ea typeface="Times New Roman"/>
              <a:cs typeface="Times New Roman"/>
              <a:sym typeface="Times New Roman"/>
            </a:endParaRPr>
          </a:p>
          <a:p>
            <a:pPr marL="457200" lvl="0" indent="0" algn="l" rtl="0">
              <a:spcBef>
                <a:spcPts val="1200"/>
              </a:spcBef>
              <a:spcAft>
                <a:spcPts val="1200"/>
              </a:spcAft>
              <a:buNone/>
            </a:pPr>
            <a:r>
              <a:rPr lang="en-GB" sz="1600">
                <a:latin typeface="Times New Roman"/>
                <a:ea typeface="Times New Roman"/>
                <a:cs typeface="Times New Roman"/>
                <a:sym typeface="Times New Roman"/>
              </a:rPr>
              <a:t>8. Better Candidate Experience</a:t>
            </a:r>
            <a:endParaRPr sz="1600">
              <a:latin typeface="Times New Roman"/>
              <a:ea typeface="Times New Roman"/>
              <a:cs typeface="Times New Roman"/>
              <a:sym typeface="Times New Roman"/>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214"/>
        <p:cNvGrpSpPr/>
        <p:nvPr/>
      </p:nvGrpSpPr>
      <p:grpSpPr>
        <a:xfrm>
          <a:off x="0" y="0"/>
          <a:ext cx="0" cy="0"/>
          <a:chOff x="0" y="0"/>
          <a:chExt cx="0" cy="0"/>
        </a:xfrm>
      </p:grpSpPr>
      <p:sp>
        <p:nvSpPr>
          <p:cNvPr id="215" name="Google Shape;215;p36"/>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GB">
                <a:latin typeface="Times New Roman"/>
                <a:ea typeface="Times New Roman"/>
                <a:cs typeface="Times New Roman"/>
                <a:sym typeface="Times New Roman"/>
              </a:rPr>
              <a:t>Limitations</a:t>
            </a:r>
            <a:endParaRPr>
              <a:latin typeface="Times New Roman"/>
              <a:ea typeface="Times New Roman"/>
              <a:cs typeface="Times New Roman"/>
              <a:sym typeface="Times New Roman"/>
            </a:endParaRPr>
          </a:p>
        </p:txBody>
      </p:sp>
      <p:sp>
        <p:nvSpPr>
          <p:cNvPr id="216" name="Google Shape;216;p36"/>
          <p:cNvSpPr txBox="1">
            <a:spLocks noGrp="1"/>
          </p:cNvSpPr>
          <p:nvPr>
            <p:ph type="body" idx="1"/>
          </p:nvPr>
        </p:nvSpPr>
        <p:spPr>
          <a:xfrm>
            <a:off x="311700" y="1152475"/>
            <a:ext cx="8520600" cy="3416400"/>
          </a:xfrm>
          <a:prstGeom prst="rect">
            <a:avLst/>
          </a:prstGeom>
          <a:ln w="9525" cap="flat" cmpd="sng">
            <a:solidFill>
              <a:schemeClr val="lt2"/>
            </a:solidFill>
            <a:prstDash val="solid"/>
            <a:round/>
            <a:headEnd type="none" w="sm" len="sm"/>
            <a:tailEnd type="none" w="sm" len="sm"/>
          </a:ln>
        </p:spPr>
        <p:txBody>
          <a:bodyPr spcFirstLastPara="1" wrap="square" lIns="91425" tIns="91425" rIns="91425" bIns="91425" anchor="t" anchorCtr="0">
            <a:normAutofit fontScale="92500" lnSpcReduction="10000"/>
          </a:bodyPr>
          <a:lstStyle/>
          <a:p>
            <a:pPr marL="457200" lvl="0" indent="0" algn="l" rtl="0">
              <a:spcBef>
                <a:spcPts val="0"/>
              </a:spcBef>
              <a:spcAft>
                <a:spcPts val="0"/>
              </a:spcAft>
              <a:buNone/>
            </a:pPr>
            <a:r>
              <a:rPr lang="en-GB" sz="1600">
                <a:latin typeface="Times New Roman"/>
                <a:ea typeface="Times New Roman"/>
                <a:cs typeface="Times New Roman"/>
                <a:sym typeface="Times New Roman"/>
              </a:rPr>
              <a:t> 1. Over-Reliance on Keywords</a:t>
            </a:r>
            <a:endParaRPr sz="1600">
              <a:latin typeface="Times New Roman"/>
              <a:ea typeface="Times New Roman"/>
              <a:cs typeface="Times New Roman"/>
              <a:sym typeface="Times New Roman"/>
            </a:endParaRPr>
          </a:p>
          <a:p>
            <a:pPr marL="457200" lvl="0" indent="0" algn="l" rtl="0">
              <a:spcBef>
                <a:spcPts val="1200"/>
              </a:spcBef>
              <a:spcAft>
                <a:spcPts val="0"/>
              </a:spcAft>
              <a:buNone/>
            </a:pPr>
            <a:r>
              <a:rPr lang="en-GB" sz="1600">
                <a:latin typeface="Times New Roman"/>
                <a:ea typeface="Times New Roman"/>
                <a:cs typeface="Times New Roman"/>
                <a:sym typeface="Times New Roman"/>
              </a:rPr>
              <a:t>2. Can Miss Qualified Candidates</a:t>
            </a:r>
            <a:endParaRPr sz="1600">
              <a:latin typeface="Times New Roman"/>
              <a:ea typeface="Times New Roman"/>
              <a:cs typeface="Times New Roman"/>
              <a:sym typeface="Times New Roman"/>
            </a:endParaRPr>
          </a:p>
          <a:p>
            <a:pPr marL="457200" lvl="0" indent="0" algn="l" rtl="0">
              <a:spcBef>
                <a:spcPts val="1200"/>
              </a:spcBef>
              <a:spcAft>
                <a:spcPts val="0"/>
              </a:spcAft>
              <a:buNone/>
            </a:pPr>
            <a:r>
              <a:rPr lang="en-GB" sz="1600">
                <a:latin typeface="Times New Roman"/>
                <a:ea typeface="Times New Roman"/>
                <a:cs typeface="Times New Roman"/>
                <a:sym typeface="Times New Roman"/>
              </a:rPr>
              <a:t>3. Lacks Human Judgment</a:t>
            </a:r>
            <a:endParaRPr sz="1600">
              <a:latin typeface="Times New Roman"/>
              <a:ea typeface="Times New Roman"/>
              <a:cs typeface="Times New Roman"/>
              <a:sym typeface="Times New Roman"/>
            </a:endParaRPr>
          </a:p>
          <a:p>
            <a:pPr marL="457200" lvl="0" indent="0" algn="l" rtl="0">
              <a:spcBef>
                <a:spcPts val="1200"/>
              </a:spcBef>
              <a:spcAft>
                <a:spcPts val="0"/>
              </a:spcAft>
              <a:buNone/>
            </a:pPr>
            <a:r>
              <a:rPr lang="en-GB" sz="1600">
                <a:latin typeface="Times New Roman"/>
                <a:ea typeface="Times New Roman"/>
                <a:cs typeface="Times New Roman"/>
                <a:sym typeface="Times New Roman"/>
              </a:rPr>
              <a:t>4. Bias in Algorithms</a:t>
            </a:r>
            <a:endParaRPr sz="1600">
              <a:latin typeface="Times New Roman"/>
              <a:ea typeface="Times New Roman"/>
              <a:cs typeface="Times New Roman"/>
              <a:sym typeface="Times New Roman"/>
            </a:endParaRPr>
          </a:p>
          <a:p>
            <a:pPr marL="457200" lvl="0" indent="0" algn="l" rtl="0">
              <a:spcBef>
                <a:spcPts val="1200"/>
              </a:spcBef>
              <a:spcAft>
                <a:spcPts val="0"/>
              </a:spcAft>
              <a:buNone/>
            </a:pPr>
            <a:r>
              <a:rPr lang="en-GB" sz="1600">
                <a:latin typeface="Times New Roman"/>
                <a:ea typeface="Times New Roman"/>
                <a:cs typeface="Times New Roman"/>
                <a:sym typeface="Times New Roman"/>
              </a:rPr>
              <a:t> 5. Formatting Issues</a:t>
            </a:r>
            <a:endParaRPr sz="1600">
              <a:latin typeface="Times New Roman"/>
              <a:ea typeface="Times New Roman"/>
              <a:cs typeface="Times New Roman"/>
              <a:sym typeface="Times New Roman"/>
            </a:endParaRPr>
          </a:p>
          <a:p>
            <a:pPr marL="457200" lvl="0" indent="0" algn="l" rtl="0">
              <a:spcBef>
                <a:spcPts val="1200"/>
              </a:spcBef>
              <a:spcAft>
                <a:spcPts val="0"/>
              </a:spcAft>
              <a:buNone/>
            </a:pPr>
            <a:r>
              <a:rPr lang="en-GB" sz="1600">
                <a:latin typeface="Times New Roman"/>
                <a:ea typeface="Times New Roman"/>
                <a:cs typeface="Times New Roman"/>
                <a:sym typeface="Times New Roman"/>
              </a:rPr>
              <a:t>6. High Initial Setup Cost</a:t>
            </a:r>
            <a:endParaRPr sz="1600">
              <a:latin typeface="Times New Roman"/>
              <a:ea typeface="Times New Roman"/>
              <a:cs typeface="Times New Roman"/>
              <a:sym typeface="Times New Roman"/>
            </a:endParaRPr>
          </a:p>
          <a:p>
            <a:pPr marL="457200" lvl="0" indent="0" algn="l" rtl="0">
              <a:spcBef>
                <a:spcPts val="1200"/>
              </a:spcBef>
              <a:spcAft>
                <a:spcPts val="0"/>
              </a:spcAft>
              <a:buNone/>
            </a:pPr>
            <a:r>
              <a:rPr lang="en-GB" sz="1600">
                <a:latin typeface="Times New Roman"/>
                <a:ea typeface="Times New Roman"/>
                <a:cs typeface="Times New Roman"/>
                <a:sym typeface="Times New Roman"/>
              </a:rPr>
              <a:t>7. Not Fully Reliable</a:t>
            </a:r>
            <a:endParaRPr sz="1600">
              <a:latin typeface="Times New Roman"/>
              <a:ea typeface="Times New Roman"/>
              <a:cs typeface="Times New Roman"/>
              <a:sym typeface="Times New Roman"/>
            </a:endParaRPr>
          </a:p>
          <a:p>
            <a:pPr marL="457200" lvl="0" indent="0" algn="l" rtl="0">
              <a:spcBef>
                <a:spcPts val="1200"/>
              </a:spcBef>
              <a:spcAft>
                <a:spcPts val="1200"/>
              </a:spcAft>
              <a:buNone/>
            </a:pPr>
            <a:r>
              <a:rPr lang="en-GB" sz="1600">
                <a:latin typeface="Times New Roman"/>
                <a:ea typeface="Times New Roman"/>
                <a:cs typeface="Times New Roman"/>
                <a:sym typeface="Times New Roman"/>
              </a:rPr>
              <a:t> 8. Limited Understanding of Experience</a:t>
            </a:r>
            <a:endParaRPr sz="1600">
              <a:latin typeface="Times New Roman"/>
              <a:ea typeface="Times New Roman"/>
              <a:cs typeface="Times New Roman"/>
              <a:sym typeface="Times New Roman"/>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220"/>
        <p:cNvGrpSpPr/>
        <p:nvPr/>
      </p:nvGrpSpPr>
      <p:grpSpPr>
        <a:xfrm>
          <a:off x="0" y="0"/>
          <a:ext cx="0" cy="0"/>
          <a:chOff x="0" y="0"/>
          <a:chExt cx="0" cy="0"/>
        </a:xfrm>
      </p:grpSpPr>
      <p:sp>
        <p:nvSpPr>
          <p:cNvPr id="221" name="Google Shape;221;p37"/>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GB">
                <a:latin typeface="Times New Roman"/>
                <a:ea typeface="Times New Roman"/>
                <a:cs typeface="Times New Roman"/>
                <a:sym typeface="Times New Roman"/>
              </a:rPr>
              <a:t>Future Scope</a:t>
            </a:r>
            <a:endParaRPr>
              <a:latin typeface="Times New Roman"/>
              <a:ea typeface="Times New Roman"/>
              <a:cs typeface="Times New Roman"/>
              <a:sym typeface="Times New Roman"/>
            </a:endParaRPr>
          </a:p>
        </p:txBody>
      </p:sp>
      <p:sp>
        <p:nvSpPr>
          <p:cNvPr id="222" name="Google Shape;222;p37"/>
          <p:cNvSpPr txBox="1">
            <a:spLocks noGrp="1"/>
          </p:cNvSpPr>
          <p:nvPr>
            <p:ph type="body" idx="1"/>
          </p:nvPr>
        </p:nvSpPr>
        <p:spPr>
          <a:xfrm>
            <a:off x="311700" y="1152475"/>
            <a:ext cx="8520600" cy="3416400"/>
          </a:xfrm>
          <a:prstGeom prst="rect">
            <a:avLst/>
          </a:prstGeom>
          <a:ln w="9525" cap="flat" cmpd="sng">
            <a:solidFill>
              <a:schemeClr val="lt2"/>
            </a:solidFill>
            <a:prstDash val="solid"/>
            <a:round/>
            <a:headEnd type="none" w="sm" len="sm"/>
            <a:tailEnd type="none" w="sm" len="sm"/>
          </a:ln>
        </p:spPr>
        <p:txBody>
          <a:bodyPr spcFirstLastPara="1" wrap="square" lIns="91425" tIns="91425" rIns="91425" bIns="91425" anchor="t" anchorCtr="0">
            <a:normAutofit fontScale="92500" lnSpcReduction="10000"/>
          </a:bodyPr>
          <a:lstStyle/>
          <a:p>
            <a:pPr marL="457200" lvl="0" indent="0" algn="l" rtl="0">
              <a:spcBef>
                <a:spcPts val="0"/>
              </a:spcBef>
              <a:spcAft>
                <a:spcPts val="0"/>
              </a:spcAft>
              <a:buNone/>
            </a:pPr>
            <a:r>
              <a:rPr lang="en-GB" sz="1600">
                <a:latin typeface="Times New Roman"/>
                <a:ea typeface="Times New Roman"/>
                <a:cs typeface="Times New Roman"/>
                <a:sym typeface="Times New Roman"/>
              </a:rPr>
              <a:t> 1. Use of Advanced AI &amp; Machine Learning</a:t>
            </a:r>
            <a:endParaRPr sz="1600">
              <a:latin typeface="Times New Roman"/>
              <a:ea typeface="Times New Roman"/>
              <a:cs typeface="Times New Roman"/>
              <a:sym typeface="Times New Roman"/>
            </a:endParaRPr>
          </a:p>
          <a:p>
            <a:pPr marL="457200" lvl="0" indent="0" algn="l" rtl="0">
              <a:spcBef>
                <a:spcPts val="1200"/>
              </a:spcBef>
              <a:spcAft>
                <a:spcPts val="0"/>
              </a:spcAft>
              <a:buNone/>
            </a:pPr>
            <a:r>
              <a:rPr lang="en-GB" sz="1600">
                <a:latin typeface="Times New Roman"/>
                <a:ea typeface="Times New Roman"/>
                <a:cs typeface="Times New Roman"/>
                <a:sym typeface="Times New Roman"/>
              </a:rPr>
              <a:t> 2. Better Skill Matching</a:t>
            </a:r>
            <a:endParaRPr sz="1600">
              <a:latin typeface="Times New Roman"/>
              <a:ea typeface="Times New Roman"/>
              <a:cs typeface="Times New Roman"/>
              <a:sym typeface="Times New Roman"/>
            </a:endParaRPr>
          </a:p>
          <a:p>
            <a:pPr marL="457200" lvl="0" indent="0" algn="l" rtl="0">
              <a:spcBef>
                <a:spcPts val="1200"/>
              </a:spcBef>
              <a:spcAft>
                <a:spcPts val="0"/>
              </a:spcAft>
              <a:buNone/>
            </a:pPr>
            <a:r>
              <a:rPr lang="en-GB" sz="1600">
                <a:latin typeface="Times New Roman"/>
                <a:ea typeface="Times New Roman"/>
                <a:cs typeface="Times New Roman"/>
                <a:sym typeface="Times New Roman"/>
              </a:rPr>
              <a:t> 3. Integration with Other HR Tools</a:t>
            </a:r>
            <a:endParaRPr sz="1600">
              <a:latin typeface="Times New Roman"/>
              <a:ea typeface="Times New Roman"/>
              <a:cs typeface="Times New Roman"/>
              <a:sym typeface="Times New Roman"/>
            </a:endParaRPr>
          </a:p>
          <a:p>
            <a:pPr marL="457200" lvl="0" indent="0" algn="l" rtl="0">
              <a:spcBef>
                <a:spcPts val="1200"/>
              </a:spcBef>
              <a:spcAft>
                <a:spcPts val="0"/>
              </a:spcAft>
              <a:buNone/>
            </a:pPr>
            <a:r>
              <a:rPr lang="en-GB" sz="1600">
                <a:latin typeface="Times New Roman"/>
                <a:ea typeface="Times New Roman"/>
                <a:cs typeface="Times New Roman"/>
                <a:sym typeface="Times New Roman"/>
              </a:rPr>
              <a:t> 4. Improved Bias Reduction</a:t>
            </a:r>
            <a:endParaRPr sz="1600">
              <a:latin typeface="Times New Roman"/>
              <a:ea typeface="Times New Roman"/>
              <a:cs typeface="Times New Roman"/>
              <a:sym typeface="Times New Roman"/>
            </a:endParaRPr>
          </a:p>
          <a:p>
            <a:pPr marL="457200" lvl="0" indent="0" algn="l" rtl="0">
              <a:spcBef>
                <a:spcPts val="1200"/>
              </a:spcBef>
              <a:spcAft>
                <a:spcPts val="0"/>
              </a:spcAft>
              <a:buNone/>
            </a:pPr>
            <a:r>
              <a:rPr lang="en-GB" sz="1600">
                <a:latin typeface="Times New Roman"/>
                <a:ea typeface="Times New Roman"/>
                <a:cs typeface="Times New Roman"/>
                <a:sym typeface="Times New Roman"/>
              </a:rPr>
              <a:t> 5. Use of Natural Language Processing (NLP)</a:t>
            </a:r>
            <a:endParaRPr sz="1600">
              <a:latin typeface="Times New Roman"/>
              <a:ea typeface="Times New Roman"/>
              <a:cs typeface="Times New Roman"/>
              <a:sym typeface="Times New Roman"/>
            </a:endParaRPr>
          </a:p>
          <a:p>
            <a:pPr marL="457200" lvl="0" indent="0" algn="l" rtl="0">
              <a:spcBef>
                <a:spcPts val="1200"/>
              </a:spcBef>
              <a:spcAft>
                <a:spcPts val="0"/>
              </a:spcAft>
              <a:buNone/>
            </a:pPr>
            <a:r>
              <a:rPr lang="en-GB" sz="1600">
                <a:latin typeface="Times New Roman"/>
                <a:ea typeface="Times New Roman"/>
                <a:cs typeface="Times New Roman"/>
                <a:sym typeface="Times New Roman"/>
              </a:rPr>
              <a:t> 6. Real-Time Candidate Screening</a:t>
            </a:r>
            <a:endParaRPr sz="1600">
              <a:latin typeface="Times New Roman"/>
              <a:ea typeface="Times New Roman"/>
              <a:cs typeface="Times New Roman"/>
              <a:sym typeface="Times New Roman"/>
            </a:endParaRPr>
          </a:p>
          <a:p>
            <a:pPr marL="457200" lvl="0" indent="0" algn="l" rtl="0">
              <a:spcBef>
                <a:spcPts val="1200"/>
              </a:spcBef>
              <a:spcAft>
                <a:spcPts val="0"/>
              </a:spcAft>
              <a:buNone/>
            </a:pPr>
            <a:r>
              <a:rPr lang="en-GB" sz="1600">
                <a:latin typeface="Times New Roman"/>
                <a:ea typeface="Times New Roman"/>
                <a:cs typeface="Times New Roman"/>
                <a:sym typeface="Times New Roman"/>
              </a:rPr>
              <a:t> 7. Personalized Feedback to Candidates</a:t>
            </a:r>
            <a:endParaRPr sz="1600">
              <a:latin typeface="Times New Roman"/>
              <a:ea typeface="Times New Roman"/>
              <a:cs typeface="Times New Roman"/>
              <a:sym typeface="Times New Roman"/>
            </a:endParaRPr>
          </a:p>
          <a:p>
            <a:pPr marL="457200" lvl="0" indent="0" algn="l" rtl="0">
              <a:spcBef>
                <a:spcPts val="1200"/>
              </a:spcBef>
              <a:spcAft>
                <a:spcPts val="1200"/>
              </a:spcAft>
              <a:buNone/>
            </a:pPr>
            <a:r>
              <a:rPr lang="en-GB" sz="1600">
                <a:latin typeface="Times New Roman"/>
                <a:ea typeface="Times New Roman"/>
                <a:cs typeface="Times New Roman"/>
                <a:sym typeface="Times New Roman"/>
              </a:rPr>
              <a:t>  8.Voice &amp; Video Resume Analysis</a:t>
            </a:r>
            <a:endParaRPr sz="1600">
              <a:latin typeface="Times New Roman"/>
              <a:ea typeface="Times New Roman"/>
              <a:cs typeface="Times New Roman"/>
              <a:sym typeface="Times New Roman"/>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226"/>
        <p:cNvGrpSpPr/>
        <p:nvPr/>
      </p:nvGrpSpPr>
      <p:grpSpPr>
        <a:xfrm>
          <a:off x="0" y="0"/>
          <a:ext cx="0" cy="0"/>
          <a:chOff x="0" y="0"/>
          <a:chExt cx="0" cy="0"/>
        </a:xfrm>
      </p:grpSpPr>
      <p:sp>
        <p:nvSpPr>
          <p:cNvPr id="227" name="Google Shape;227;p38"/>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GB">
                <a:latin typeface="Times New Roman"/>
                <a:ea typeface="Times New Roman"/>
                <a:cs typeface="Times New Roman"/>
                <a:sym typeface="Times New Roman"/>
              </a:rPr>
              <a:t>Conclusion</a:t>
            </a:r>
            <a:endParaRPr>
              <a:latin typeface="Times New Roman"/>
              <a:ea typeface="Times New Roman"/>
              <a:cs typeface="Times New Roman"/>
              <a:sym typeface="Times New Roman"/>
            </a:endParaRPr>
          </a:p>
        </p:txBody>
      </p:sp>
      <p:sp>
        <p:nvSpPr>
          <p:cNvPr id="228" name="Google Shape;228;p38"/>
          <p:cNvSpPr txBox="1">
            <a:spLocks noGrp="1"/>
          </p:cNvSpPr>
          <p:nvPr>
            <p:ph type="body" idx="1"/>
          </p:nvPr>
        </p:nvSpPr>
        <p:spPr>
          <a:xfrm>
            <a:off x="311700" y="1152475"/>
            <a:ext cx="8520600" cy="3416400"/>
          </a:xfrm>
          <a:prstGeom prst="rect">
            <a:avLst/>
          </a:prstGeom>
          <a:ln w="9525" cap="flat" cmpd="sng">
            <a:solidFill>
              <a:schemeClr val="lt2"/>
            </a:solidFill>
            <a:prstDash val="solid"/>
            <a:round/>
            <a:headEnd type="none" w="sm" len="sm"/>
            <a:tailEnd type="none" w="sm" len="sm"/>
          </a:ln>
        </p:spPr>
        <p:txBody>
          <a:bodyPr spcFirstLastPara="1" wrap="square" lIns="91425" tIns="91425" rIns="91425" bIns="91425" anchor="t" anchorCtr="0">
            <a:normAutofit/>
          </a:bodyPr>
          <a:lstStyle/>
          <a:p>
            <a:pPr marL="0" lvl="0" indent="0" algn="l" rtl="0">
              <a:spcBef>
                <a:spcPts val="1200"/>
              </a:spcBef>
              <a:spcAft>
                <a:spcPts val="0"/>
              </a:spcAft>
              <a:buClr>
                <a:schemeClr val="dk1"/>
              </a:buClr>
              <a:buSzPts val="1100"/>
              <a:buFont typeface="Arial"/>
              <a:buNone/>
            </a:pPr>
            <a:r>
              <a:rPr lang="en-GB" sz="1600">
                <a:latin typeface="Times New Roman"/>
                <a:ea typeface="Times New Roman"/>
                <a:cs typeface="Times New Roman"/>
                <a:sym typeface="Times New Roman"/>
              </a:rPr>
              <a:t>Automated resume screening is transforming the recruitment process by making hiring faster, smarter, and more efficient. It helps organizations handle large volumes of applications with ease while ensuring consistency and saving valuable time.</a:t>
            </a:r>
            <a:endParaRPr sz="1600">
              <a:latin typeface="Times New Roman"/>
              <a:ea typeface="Times New Roman"/>
              <a:cs typeface="Times New Roman"/>
              <a:sym typeface="Times New Roman"/>
            </a:endParaRPr>
          </a:p>
          <a:p>
            <a:pPr marL="0" lvl="0" indent="0" algn="l" rtl="0">
              <a:spcBef>
                <a:spcPts val="1200"/>
              </a:spcBef>
              <a:spcAft>
                <a:spcPts val="0"/>
              </a:spcAft>
              <a:buClr>
                <a:schemeClr val="dk1"/>
              </a:buClr>
              <a:buSzPts val="1100"/>
              <a:buFont typeface="Arial"/>
              <a:buNone/>
            </a:pPr>
            <a:r>
              <a:rPr lang="en-GB" sz="1600">
                <a:latin typeface="Times New Roman"/>
                <a:ea typeface="Times New Roman"/>
                <a:cs typeface="Times New Roman"/>
                <a:sym typeface="Times New Roman"/>
              </a:rPr>
              <a:t>However, despite its advantages, it is not a complete replacement for human judgment. Factors like creativity, personality, and real-world experience still require a human touch.</a:t>
            </a:r>
            <a:endParaRPr sz="1600">
              <a:latin typeface="Times New Roman"/>
              <a:ea typeface="Times New Roman"/>
              <a:cs typeface="Times New Roman"/>
              <a:sym typeface="Times New Roman"/>
            </a:endParaRPr>
          </a:p>
          <a:p>
            <a:pPr marL="0" lvl="0" indent="0" algn="l" rtl="0">
              <a:spcBef>
                <a:spcPts val="1200"/>
              </a:spcBef>
              <a:spcAft>
                <a:spcPts val="0"/>
              </a:spcAft>
              <a:buClr>
                <a:schemeClr val="dk1"/>
              </a:buClr>
              <a:buSzPts val="1100"/>
              <a:buFont typeface="Arial"/>
              <a:buNone/>
            </a:pPr>
            <a:r>
              <a:rPr lang="en-GB" sz="1600">
                <a:latin typeface="Times New Roman"/>
                <a:ea typeface="Times New Roman"/>
                <a:cs typeface="Times New Roman"/>
                <a:sym typeface="Times New Roman"/>
              </a:rPr>
              <a:t>Looking ahead, with advancements in Artificial Intelligence and Machine Learning, automated screening systems will become more accurate, fair, and intelligent. The future of hiring lies in a perfect balance between technology and human decision-making.</a:t>
            </a:r>
            <a:endParaRPr sz="1600">
              <a:latin typeface="Times New Roman"/>
              <a:ea typeface="Times New Roman"/>
              <a:cs typeface="Times New Roman"/>
              <a:sym typeface="Times New Roman"/>
            </a:endParaRPr>
          </a:p>
          <a:p>
            <a:pPr marL="457200" lvl="0" indent="0" algn="l" rtl="0">
              <a:spcBef>
                <a:spcPts val="1200"/>
              </a:spcBef>
              <a:spcAft>
                <a:spcPts val="1200"/>
              </a:spcAft>
              <a:buNone/>
            </a:pPr>
            <a:endParaRPr sz="1600">
              <a:latin typeface="Times New Roman"/>
              <a:ea typeface="Times New Roman"/>
              <a:cs typeface="Times New Roman"/>
              <a:sym typeface="Times New Roman"/>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232"/>
        <p:cNvGrpSpPr/>
        <p:nvPr/>
      </p:nvGrpSpPr>
      <p:grpSpPr>
        <a:xfrm>
          <a:off x="0" y="0"/>
          <a:ext cx="0" cy="0"/>
          <a:chOff x="0" y="0"/>
          <a:chExt cx="0" cy="0"/>
        </a:xfrm>
      </p:grpSpPr>
      <p:sp>
        <p:nvSpPr>
          <p:cNvPr id="233" name="Google Shape;233;p39"/>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GB">
                <a:latin typeface="Times New Roman"/>
                <a:ea typeface="Times New Roman"/>
                <a:cs typeface="Times New Roman"/>
                <a:sym typeface="Times New Roman"/>
              </a:rPr>
              <a:t>References</a:t>
            </a:r>
            <a:endParaRPr>
              <a:latin typeface="Times New Roman"/>
              <a:ea typeface="Times New Roman"/>
              <a:cs typeface="Times New Roman"/>
              <a:sym typeface="Times New Roman"/>
            </a:endParaRPr>
          </a:p>
        </p:txBody>
      </p:sp>
      <p:sp>
        <p:nvSpPr>
          <p:cNvPr id="234" name="Google Shape;234;p39"/>
          <p:cNvSpPr txBox="1">
            <a:spLocks noGrp="1"/>
          </p:cNvSpPr>
          <p:nvPr>
            <p:ph type="body" idx="1"/>
          </p:nvPr>
        </p:nvSpPr>
        <p:spPr>
          <a:xfrm>
            <a:off x="311700" y="947300"/>
            <a:ext cx="8520600" cy="4196100"/>
          </a:xfrm>
          <a:prstGeom prst="rect">
            <a:avLst/>
          </a:prstGeom>
        </p:spPr>
        <p:txBody>
          <a:bodyPr spcFirstLastPara="1" wrap="square" lIns="91425" tIns="91425" rIns="91425" bIns="91425" anchor="t" anchorCtr="0">
            <a:noAutofit/>
          </a:bodyPr>
          <a:lstStyle/>
          <a:p>
            <a:pPr marL="457200" lvl="0" indent="-317500" algn="l" rtl="0">
              <a:lnSpc>
                <a:spcPct val="100000"/>
              </a:lnSpc>
              <a:spcBef>
                <a:spcPts val="0"/>
              </a:spcBef>
              <a:spcAft>
                <a:spcPts val="0"/>
              </a:spcAft>
              <a:buSzPts val="1400"/>
              <a:buFont typeface="Times New Roman"/>
              <a:buChar char="●"/>
            </a:pPr>
            <a:r>
              <a:rPr lang="en-GB" sz="1400">
                <a:latin typeface="Times New Roman"/>
                <a:ea typeface="Times New Roman"/>
                <a:cs typeface="Times New Roman"/>
                <a:sym typeface="Times New Roman"/>
              </a:rPr>
              <a:t>Elakkiya R., &amp; Muthuraj Kumar S. (2021). "Automated Resume Screening System using Semantic Similarity". In 2021 International Conference on Computing, Electronics &amp; Communications Engineering (ICCECE).</a:t>
            </a:r>
            <a:endParaRPr sz="1400">
              <a:latin typeface="Times New Roman"/>
              <a:ea typeface="Times New Roman"/>
              <a:cs typeface="Times New Roman"/>
              <a:sym typeface="Times New Roman"/>
            </a:endParaRPr>
          </a:p>
          <a:p>
            <a:pPr marL="457200" lvl="0" indent="-317500" algn="l" rtl="0">
              <a:lnSpc>
                <a:spcPct val="100000"/>
              </a:lnSpc>
              <a:spcBef>
                <a:spcPts val="0"/>
              </a:spcBef>
              <a:spcAft>
                <a:spcPts val="0"/>
              </a:spcAft>
              <a:buSzPts val="1400"/>
              <a:buFont typeface="Times New Roman"/>
              <a:buChar char="●"/>
            </a:pPr>
            <a:r>
              <a:rPr lang="en-GB" sz="1400">
                <a:latin typeface="Times New Roman"/>
                <a:ea typeface="Times New Roman"/>
                <a:cs typeface="Times New Roman"/>
                <a:sym typeface="Times New Roman"/>
              </a:rPr>
              <a:t>Pradeep Kumar Roy, Sarabjeet Singh Chowdhary (2019), “A Machine Learning approach for Automation of Resume Recommendation System”. - International Conference on Computational Intelligence and Data Science (ICCIDS).</a:t>
            </a:r>
            <a:endParaRPr sz="1400">
              <a:latin typeface="Times New Roman"/>
              <a:ea typeface="Times New Roman"/>
              <a:cs typeface="Times New Roman"/>
              <a:sym typeface="Times New Roman"/>
            </a:endParaRPr>
          </a:p>
          <a:p>
            <a:pPr marL="457200" lvl="0" indent="-317500" algn="l" rtl="0">
              <a:lnSpc>
                <a:spcPct val="100000"/>
              </a:lnSpc>
              <a:spcBef>
                <a:spcPts val="0"/>
              </a:spcBef>
              <a:spcAft>
                <a:spcPts val="0"/>
              </a:spcAft>
              <a:buSzPts val="1400"/>
              <a:buFont typeface="Times New Roman"/>
              <a:buChar char="●"/>
            </a:pPr>
            <a:r>
              <a:rPr lang="en-GB" sz="1400">
                <a:latin typeface="Times New Roman"/>
                <a:ea typeface="Times New Roman"/>
                <a:cs typeface="Times New Roman"/>
                <a:sym typeface="Times New Roman"/>
              </a:rPr>
              <a:t>Mandviwalla, M., &amp; Kappelman, L. A. (2021). "Automated Resume Screening Using Semantic Similarity and Machine Learning". Journal of Information Systems Education.</a:t>
            </a:r>
            <a:endParaRPr sz="1400">
              <a:latin typeface="Times New Roman"/>
              <a:ea typeface="Times New Roman"/>
              <a:cs typeface="Times New Roman"/>
              <a:sym typeface="Times New Roman"/>
            </a:endParaRPr>
          </a:p>
          <a:p>
            <a:pPr marL="457200" lvl="0" indent="-317500" algn="l" rtl="0">
              <a:lnSpc>
                <a:spcPct val="100000"/>
              </a:lnSpc>
              <a:spcBef>
                <a:spcPts val="0"/>
              </a:spcBef>
              <a:spcAft>
                <a:spcPts val="0"/>
              </a:spcAft>
              <a:buSzPts val="1400"/>
              <a:buFont typeface="Times New Roman"/>
              <a:buChar char="●"/>
            </a:pPr>
            <a:r>
              <a:rPr lang="en-GB" sz="1400">
                <a:latin typeface="Times New Roman"/>
                <a:ea typeface="Times New Roman"/>
                <a:cs typeface="Times New Roman"/>
                <a:sym typeface="Times New Roman"/>
              </a:rPr>
              <a:t>Tejaswini K, Umadevi V, Shashank M Kadiwal, Sanjay Revanna .“Design and development of Machine Learning based Resume Ranking System” </a:t>
            </a:r>
            <a:endParaRPr sz="1400">
              <a:latin typeface="Times New Roman"/>
              <a:ea typeface="Times New Roman"/>
              <a:cs typeface="Times New Roman"/>
              <a:sym typeface="Times New Roman"/>
            </a:endParaRPr>
          </a:p>
          <a:p>
            <a:pPr marL="457200" lvl="0" indent="-317500" algn="l" rtl="0">
              <a:lnSpc>
                <a:spcPct val="100000"/>
              </a:lnSpc>
              <a:spcBef>
                <a:spcPts val="0"/>
              </a:spcBef>
              <a:spcAft>
                <a:spcPts val="0"/>
              </a:spcAft>
              <a:buSzPts val="1400"/>
              <a:buFont typeface="Times New Roman"/>
              <a:buChar char="●"/>
            </a:pPr>
            <a:r>
              <a:rPr lang="en-GB" sz="1400">
                <a:latin typeface="Times New Roman"/>
                <a:ea typeface="Times New Roman"/>
                <a:cs typeface="Times New Roman"/>
                <a:sym typeface="Times New Roman"/>
              </a:rPr>
              <a:t>Daryani C. Chhabra, G.S. Patel, H. Chhabra, I.K. &amp; Patel R. (2020). “An Automated Resume Screening System using Natural Language Processing and Similarity”</a:t>
            </a:r>
            <a:r>
              <a:rPr lang="en-GB" sz="1400" i="1">
                <a:latin typeface="Times New Roman"/>
                <a:ea typeface="Times New Roman"/>
                <a:cs typeface="Times New Roman"/>
                <a:sym typeface="Times New Roman"/>
              </a:rPr>
              <a:t>.</a:t>
            </a:r>
            <a:r>
              <a:rPr lang="en-GB" sz="1400">
                <a:latin typeface="Times New Roman"/>
                <a:ea typeface="Times New Roman"/>
                <a:cs typeface="Times New Roman"/>
                <a:sym typeface="Times New Roman"/>
              </a:rPr>
              <a:t> Topics in Intelligent Computing.</a:t>
            </a:r>
            <a:endParaRPr sz="1400">
              <a:latin typeface="Times New Roman"/>
              <a:ea typeface="Times New Roman"/>
              <a:cs typeface="Times New Roman"/>
              <a:sym typeface="Times New Roman"/>
            </a:endParaRPr>
          </a:p>
          <a:p>
            <a:pPr marL="457200" lvl="0" indent="-317500" algn="l" rtl="0">
              <a:lnSpc>
                <a:spcPct val="100000"/>
              </a:lnSpc>
              <a:spcBef>
                <a:spcPts val="0"/>
              </a:spcBef>
              <a:spcAft>
                <a:spcPts val="0"/>
              </a:spcAft>
              <a:buSzPts val="1400"/>
              <a:buFont typeface="Times New Roman"/>
              <a:buChar char="●"/>
            </a:pPr>
            <a:r>
              <a:rPr lang="en-GB" sz="1400">
                <a:latin typeface="Times New Roman"/>
                <a:ea typeface="Times New Roman"/>
                <a:cs typeface="Times New Roman"/>
                <a:sym typeface="Times New Roman"/>
              </a:rPr>
              <a:t>Khatri V. (2025). “AI-Powered Automated Resume Screening and Job Matching System using NLP and Machines Learning”. IJRESM.</a:t>
            </a:r>
            <a:endParaRPr sz="1400">
              <a:latin typeface="Times New Roman"/>
              <a:ea typeface="Times New Roman"/>
              <a:cs typeface="Times New Roman"/>
              <a:sym typeface="Times New Roman"/>
            </a:endParaRPr>
          </a:p>
          <a:p>
            <a:pPr marL="457200" lvl="0" indent="-317500" algn="l" rtl="0">
              <a:lnSpc>
                <a:spcPct val="100000"/>
              </a:lnSpc>
              <a:spcBef>
                <a:spcPts val="0"/>
              </a:spcBef>
              <a:spcAft>
                <a:spcPts val="0"/>
              </a:spcAft>
              <a:buSzPts val="1400"/>
              <a:buFont typeface="Times New Roman"/>
              <a:buChar char="●"/>
            </a:pPr>
            <a:r>
              <a:rPr lang="en-GB" sz="1400">
                <a:latin typeface="Times New Roman"/>
                <a:ea typeface="Times New Roman"/>
                <a:cs typeface="Times New Roman"/>
                <a:sym typeface="Times New Roman"/>
              </a:rPr>
              <a:t>Mohammed Shinan, K.S. Praveen, G.P.P. &amp; Varsha, C.R. (2025). “AI-Powered Resume Screening and Categorization Using Machine Learning and NLP”</a:t>
            </a:r>
            <a:r>
              <a:rPr lang="en-GB" sz="1400" i="1">
                <a:latin typeface="Times New Roman"/>
                <a:ea typeface="Times New Roman"/>
                <a:cs typeface="Times New Roman"/>
                <a:sym typeface="Times New Roman"/>
              </a:rPr>
              <a:t>.</a:t>
            </a:r>
            <a:r>
              <a:rPr lang="en-GB" sz="1400">
                <a:latin typeface="Times New Roman"/>
                <a:ea typeface="Times New Roman"/>
                <a:cs typeface="Times New Roman"/>
                <a:sym typeface="Times New Roman"/>
              </a:rPr>
              <a:t> International Journal of Innovative Research in Technology</a:t>
            </a:r>
            <a:endParaRPr sz="1400">
              <a:latin typeface="Times New Roman"/>
              <a:ea typeface="Times New Roman"/>
              <a:cs typeface="Times New Roman"/>
              <a:sym typeface="Times New Roman"/>
            </a:endParaRPr>
          </a:p>
          <a:p>
            <a:pPr marL="0" lvl="0" indent="0" algn="l" rtl="0">
              <a:lnSpc>
                <a:spcPct val="100000"/>
              </a:lnSpc>
              <a:spcBef>
                <a:spcPts val="1200"/>
              </a:spcBef>
              <a:spcAft>
                <a:spcPts val="1200"/>
              </a:spcAft>
              <a:buNone/>
            </a:pPr>
            <a:endParaRPr sz="1400">
              <a:solidFill>
                <a:schemeClr val="dk1"/>
              </a:solidFill>
              <a:latin typeface="Times New Roman"/>
              <a:ea typeface="Times New Roman"/>
              <a:cs typeface="Times New Roman"/>
              <a:sym typeface="Times New Roman"/>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238"/>
        <p:cNvGrpSpPr/>
        <p:nvPr/>
      </p:nvGrpSpPr>
      <p:grpSpPr>
        <a:xfrm>
          <a:off x="0" y="0"/>
          <a:ext cx="0" cy="0"/>
          <a:chOff x="0" y="0"/>
          <a:chExt cx="0" cy="0"/>
        </a:xfrm>
      </p:grpSpPr>
      <p:sp>
        <p:nvSpPr>
          <p:cNvPr id="239" name="Google Shape;239;p40"/>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GB">
                <a:latin typeface="Times New Roman"/>
                <a:ea typeface="Times New Roman"/>
                <a:cs typeface="Times New Roman"/>
                <a:sym typeface="Times New Roman"/>
              </a:rPr>
              <a:t>References</a:t>
            </a:r>
            <a:endParaRPr>
              <a:latin typeface="Times New Roman"/>
              <a:ea typeface="Times New Roman"/>
              <a:cs typeface="Times New Roman"/>
              <a:sym typeface="Times New Roman"/>
            </a:endParaRPr>
          </a:p>
        </p:txBody>
      </p:sp>
      <p:sp>
        <p:nvSpPr>
          <p:cNvPr id="240" name="Google Shape;240;p40"/>
          <p:cNvSpPr txBox="1">
            <a:spLocks noGrp="1"/>
          </p:cNvSpPr>
          <p:nvPr>
            <p:ph type="body" idx="1"/>
          </p:nvPr>
        </p:nvSpPr>
        <p:spPr>
          <a:xfrm>
            <a:off x="311700" y="1081375"/>
            <a:ext cx="8520600" cy="3743700"/>
          </a:xfrm>
          <a:prstGeom prst="rect">
            <a:avLst/>
          </a:prstGeom>
        </p:spPr>
        <p:txBody>
          <a:bodyPr spcFirstLastPara="1" wrap="square" lIns="91425" tIns="91425" rIns="91425" bIns="91425" anchor="t" anchorCtr="0">
            <a:noAutofit/>
          </a:bodyPr>
          <a:lstStyle/>
          <a:p>
            <a:pPr marL="457200" marR="114300" lvl="0" indent="-317500" algn="just" rtl="0">
              <a:lnSpc>
                <a:spcPct val="100000"/>
              </a:lnSpc>
              <a:spcBef>
                <a:spcPts val="0"/>
              </a:spcBef>
              <a:spcAft>
                <a:spcPts val="0"/>
              </a:spcAft>
              <a:buSzPts val="1400"/>
              <a:buFont typeface="Times New Roman"/>
              <a:buChar char="●"/>
            </a:pPr>
            <a:r>
              <a:rPr lang="en-GB" sz="1400">
                <a:latin typeface="Times New Roman"/>
                <a:ea typeface="Times New Roman"/>
                <a:cs typeface="Times New Roman"/>
                <a:sym typeface="Times New Roman"/>
              </a:rPr>
              <a:t>Bird S. Klein, E. &amp; Loper (2009). “Natural Language Processing with Python”. O’Reilly Media</a:t>
            </a:r>
            <a:endParaRPr sz="1400">
              <a:latin typeface="Times New Roman"/>
              <a:ea typeface="Times New Roman"/>
              <a:cs typeface="Times New Roman"/>
              <a:sym typeface="Times New Roman"/>
            </a:endParaRPr>
          </a:p>
          <a:p>
            <a:pPr marL="457200" marR="114300" lvl="0" indent="-317500" algn="just" rtl="0">
              <a:lnSpc>
                <a:spcPct val="100000"/>
              </a:lnSpc>
              <a:spcBef>
                <a:spcPts val="0"/>
              </a:spcBef>
              <a:spcAft>
                <a:spcPts val="0"/>
              </a:spcAft>
              <a:buSzPts val="1400"/>
              <a:buFont typeface="Times New Roman"/>
              <a:buChar char="●"/>
            </a:pPr>
            <a:r>
              <a:rPr lang="en-GB" sz="1400">
                <a:latin typeface="Times New Roman"/>
                <a:ea typeface="Times New Roman"/>
                <a:cs typeface="Times New Roman"/>
                <a:sym typeface="Times New Roman"/>
              </a:rPr>
              <a:t>Tunchalp A. (2016). “Automated Resume Screening Using Text Mining.” International Journal of Advanced Computer Science and Applications.</a:t>
            </a:r>
            <a:endParaRPr sz="1400">
              <a:latin typeface="Times New Roman"/>
              <a:ea typeface="Times New Roman"/>
              <a:cs typeface="Times New Roman"/>
              <a:sym typeface="Times New Roman"/>
            </a:endParaRPr>
          </a:p>
          <a:p>
            <a:pPr marL="457200" marR="114300" lvl="0" indent="-317500" algn="just" rtl="0">
              <a:lnSpc>
                <a:spcPct val="100000"/>
              </a:lnSpc>
              <a:spcBef>
                <a:spcPts val="0"/>
              </a:spcBef>
              <a:spcAft>
                <a:spcPts val="0"/>
              </a:spcAft>
              <a:buSzPts val="1400"/>
              <a:buFont typeface="Times New Roman"/>
              <a:buChar char="●"/>
            </a:pPr>
            <a:r>
              <a:rPr lang="en-GB" sz="1400">
                <a:latin typeface="Times New Roman"/>
                <a:ea typeface="Times New Roman"/>
                <a:cs typeface="Times New Roman"/>
                <a:sym typeface="Times New Roman"/>
              </a:rPr>
              <a:t>Roy P. K. Chowdhary, S. Bhatia, R. (2020). “A Machine Learning approach for automation of Resume Recommendation System”. Procedia Computer Science.</a:t>
            </a:r>
            <a:endParaRPr sz="1400">
              <a:latin typeface="Times New Roman"/>
              <a:ea typeface="Times New Roman"/>
              <a:cs typeface="Times New Roman"/>
              <a:sym typeface="Times New Roman"/>
            </a:endParaRPr>
          </a:p>
          <a:p>
            <a:pPr marL="457200" marR="114300" lvl="0" indent="-317500" algn="just" rtl="0">
              <a:lnSpc>
                <a:spcPct val="100000"/>
              </a:lnSpc>
              <a:spcBef>
                <a:spcPts val="0"/>
              </a:spcBef>
              <a:spcAft>
                <a:spcPts val="0"/>
              </a:spcAft>
              <a:buSzPts val="1400"/>
              <a:buFont typeface="Times New Roman"/>
              <a:buChar char="●"/>
            </a:pPr>
            <a:r>
              <a:rPr lang="en-GB" sz="1400">
                <a:latin typeface="Times New Roman"/>
                <a:ea typeface="Times New Roman"/>
                <a:cs typeface="Times New Roman"/>
                <a:sym typeface="Times New Roman"/>
              </a:rPr>
              <a:t>Lohith G. K., Varshith Reddy, K. Mounisha Reddy, P. &amp; Vinya V. L., 2025. “NLP‑Based Resume Analysis, Skill Enhancement &amp; Job Automation”. International Research Journal of Engineering and Technology (IRJET).</a:t>
            </a:r>
            <a:endParaRPr sz="1400">
              <a:latin typeface="Times New Roman"/>
              <a:ea typeface="Times New Roman"/>
              <a:cs typeface="Times New Roman"/>
              <a:sym typeface="Times New Roman"/>
            </a:endParaRPr>
          </a:p>
          <a:p>
            <a:pPr marL="457200" marR="114300" lvl="0" indent="-317500" algn="just" rtl="0">
              <a:lnSpc>
                <a:spcPct val="100000"/>
              </a:lnSpc>
              <a:spcBef>
                <a:spcPts val="0"/>
              </a:spcBef>
              <a:spcAft>
                <a:spcPts val="0"/>
              </a:spcAft>
              <a:buSzPts val="1400"/>
              <a:buFont typeface="Times New Roman"/>
              <a:buChar char="●"/>
            </a:pPr>
            <a:r>
              <a:rPr lang="en-GB" sz="1400">
                <a:latin typeface="Times New Roman"/>
                <a:ea typeface="Times New Roman"/>
                <a:cs typeface="Times New Roman"/>
                <a:sym typeface="Times New Roman"/>
              </a:rPr>
              <a:t>Rudrakar, M., Tayade, S., Wankhede, D., Khan, U., &amp; Gaikwad, G., 2025. “An Intelligent System for Automated Resume Screening and Resume Building Using NLP and Machine Learning”. International Journal of Innovative Research in Technology.</a:t>
            </a:r>
            <a:endParaRPr sz="1400">
              <a:latin typeface="Times New Roman"/>
              <a:ea typeface="Times New Roman"/>
              <a:cs typeface="Times New Roman"/>
              <a:sym typeface="Times New Roman"/>
            </a:endParaRPr>
          </a:p>
          <a:p>
            <a:pPr marL="457200" marR="114300" lvl="0" indent="-317500" algn="just" rtl="0">
              <a:lnSpc>
                <a:spcPct val="100000"/>
              </a:lnSpc>
              <a:spcBef>
                <a:spcPts val="0"/>
              </a:spcBef>
              <a:spcAft>
                <a:spcPts val="0"/>
              </a:spcAft>
              <a:buSzPts val="1400"/>
              <a:buFont typeface="Times New Roman"/>
              <a:buChar char="●"/>
            </a:pPr>
            <a:r>
              <a:rPr lang="en-GB" sz="1400">
                <a:latin typeface="Times New Roman"/>
                <a:ea typeface="Times New Roman"/>
                <a:cs typeface="Times New Roman"/>
                <a:sym typeface="Times New Roman"/>
              </a:rPr>
              <a:t>Saatçı, Kaya, R.R. (2024). “Resume Screening with Natural Language Processing (NLP)”. IJRESM.</a:t>
            </a:r>
            <a:endParaRPr sz="1400">
              <a:latin typeface="Times New Roman"/>
              <a:ea typeface="Times New Roman"/>
              <a:cs typeface="Times New Roman"/>
              <a:sym typeface="Times New Roman"/>
            </a:endParaRPr>
          </a:p>
          <a:p>
            <a:pPr marL="457200" marR="114300" lvl="0" indent="-317500" algn="just" rtl="0">
              <a:lnSpc>
                <a:spcPct val="100000"/>
              </a:lnSpc>
              <a:spcBef>
                <a:spcPts val="0"/>
              </a:spcBef>
              <a:spcAft>
                <a:spcPts val="0"/>
              </a:spcAft>
              <a:buSzPts val="1400"/>
              <a:buFont typeface="Times New Roman"/>
              <a:buChar char="●"/>
            </a:pPr>
            <a:r>
              <a:rPr lang="en-GB" sz="1400">
                <a:latin typeface="Times New Roman"/>
                <a:ea typeface="Times New Roman"/>
                <a:cs typeface="Times New Roman"/>
                <a:sym typeface="Times New Roman"/>
              </a:rPr>
              <a:t>Jurafsky, D., &amp; Martin, J. H. (2021). “Speech and Language Processing” (3rd ed.). Pearson.</a:t>
            </a:r>
            <a:endParaRPr sz="1400">
              <a:latin typeface="Times New Roman"/>
              <a:ea typeface="Times New Roman"/>
              <a:cs typeface="Times New Roman"/>
              <a:sym typeface="Times New Roman"/>
            </a:endParaRPr>
          </a:p>
          <a:p>
            <a:pPr marL="457200" marR="114300" lvl="0" indent="-317500" algn="just" rtl="0">
              <a:lnSpc>
                <a:spcPct val="100000"/>
              </a:lnSpc>
              <a:spcBef>
                <a:spcPts val="0"/>
              </a:spcBef>
              <a:spcAft>
                <a:spcPts val="0"/>
              </a:spcAft>
              <a:buSzPts val="1400"/>
              <a:buFont typeface="Times New Roman"/>
              <a:buChar char="●"/>
            </a:pPr>
            <a:r>
              <a:rPr lang="en-GB" sz="1400">
                <a:latin typeface="Times New Roman"/>
                <a:ea typeface="Times New Roman"/>
                <a:cs typeface="Times New Roman"/>
                <a:sym typeface="Times New Roman"/>
              </a:rPr>
              <a:t>Goyal, A., Gupta, V., &amp; Kumar, M. (2018). “Deep Learning for Natural Language Processing: A Survey.” ACM Computing Surveys.</a:t>
            </a:r>
            <a:endParaRPr sz="1400">
              <a:latin typeface="Times New Roman"/>
              <a:ea typeface="Times New Roman"/>
              <a:cs typeface="Times New Roman"/>
              <a:sym typeface="Times New Roman"/>
            </a:endParaRPr>
          </a:p>
        </p:txBody>
      </p:sp>
    </p:spTree>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23</TotalTime>
  <Words>1772</Words>
  <Application>Microsoft Office PowerPoint</Application>
  <PresentationFormat>On-screen Show (16:9)</PresentationFormat>
  <Paragraphs>229</Paragraphs>
  <Slides>30</Slides>
  <Notes>28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30</vt:i4>
      </vt:variant>
    </vt:vector>
  </HeadingPairs>
  <TitlesOfParts>
    <vt:vector size="33" baseType="lpstr">
      <vt:lpstr>Arial</vt:lpstr>
      <vt:lpstr>Times New Roman</vt:lpstr>
      <vt:lpstr>Simple Light</vt:lpstr>
      <vt:lpstr>Automated Resume Screening</vt:lpstr>
      <vt:lpstr>Objectives</vt:lpstr>
      <vt:lpstr>Problem Statement</vt:lpstr>
      <vt:lpstr>Proposed Solution</vt:lpstr>
      <vt:lpstr>Requirements Specification</vt:lpstr>
      <vt:lpstr>System Architecture</vt:lpstr>
      <vt:lpstr>System Architecture</vt:lpstr>
      <vt:lpstr>Project Components </vt:lpstr>
      <vt:lpstr>Project Components</vt:lpstr>
      <vt:lpstr>Project Components</vt:lpstr>
      <vt:lpstr>Algorithm </vt:lpstr>
      <vt:lpstr>Algorithm</vt:lpstr>
      <vt:lpstr>Algorithm</vt:lpstr>
      <vt:lpstr>Algorithm</vt:lpstr>
      <vt:lpstr>Algorithm</vt:lpstr>
      <vt:lpstr>Algorithm</vt:lpstr>
      <vt:lpstr>Results </vt:lpstr>
      <vt:lpstr>Results </vt:lpstr>
      <vt:lpstr>Results </vt:lpstr>
      <vt:lpstr>Results</vt:lpstr>
      <vt:lpstr>Results</vt:lpstr>
      <vt:lpstr>Results</vt:lpstr>
      <vt:lpstr>Results</vt:lpstr>
      <vt:lpstr>Results</vt:lpstr>
      <vt:lpstr>Advantages</vt:lpstr>
      <vt:lpstr>Limitations</vt:lpstr>
      <vt:lpstr>Future Scope</vt:lpstr>
      <vt:lpstr>Conclusion</vt:lpstr>
      <vt:lpstr>References</vt:lpstr>
      <vt:lpstr>References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srijani dutta</cp:lastModifiedBy>
  <cp:revision>2</cp:revision>
  <dcterms:modified xsi:type="dcterms:W3CDTF">2026-04-17T05:16:56Z</dcterms:modified>
</cp:coreProperties>
</file>